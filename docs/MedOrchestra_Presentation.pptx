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Arial"/>
              </a:defRPr>
            </a:pPr>
            <a:r>
              <a:rPr sz="1400" b="0" i="0" u="none" strike="noStrike">
                <a:solidFill>
                  <a:srgbClr val="0F172A"/>
                </a:solidFill>
                <a:latin typeface="Arial"/>
              </a:rPr>
              <a:t>MAPE by metric</a:t>
            </a:r>
          </a:p>
        </c:rich>
      </c:tx>
      <c:layout/>
      <c:overlay val="0"/>
    </c:title>
    <c:autoTitleDeleted val="0"/>
    <c:plotArea>
      <c:layout/>
      <c:barChart>
        <c:barDir val="col"/>
        <c:grouping val="clustered"/>
        <c:varyColors val="0"/>
        <c:ser>
          <c:idx val="0"/>
          <c:order val="0"/>
          <c:tx>
            <c:strRef>
              <c:f>Sheet1!$B$1</c:f>
              <c:strCache>
                <c:ptCount val="1"/>
                <c:pt idx="0">
                  <c:v>Holt-Winters</c:v>
                </c:pt>
              </c:strCache>
            </c:strRef>
          </c:tx>
          <c:spPr>
            <a:solidFill>
              <a:srgbClr val="0F5C54"/>
            </a:solidFill>
            <a:effectLst/>
          </c:spPr>
          <c:invertIfNegative val="0"/>
          <c:dLbls>
            <c:numFmt formatCode="0.0&quot;%&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Sheet1!$A$2:$A$6</c:f>
              <c:multiLvlStrCache>
                <c:ptCount val="5"/>
                <c:lvl>
                  <c:pt idx="0">
                    <c:v>Admissions</c:v>
                  </c:pt>
                  <c:pt idx="1">
                    <c:v>ER visits</c:v>
                  </c:pt>
                  <c:pt idx="2">
                    <c:v>OPD visits</c:v>
                  </c:pt>
                  <c:pt idx="3">
                    <c:v>Bed occupancy</c:v>
                  </c:pt>
                  <c:pt idx="4">
                    <c:v>ICU occupancy</c:v>
                  </c:pt>
                </c:lvl>
              </c:multiLvlStrCache>
            </c:multiLvlStrRef>
          </c:cat>
          <c:val>
            <c:numRef>
              <c:f>Sheet1!$B$2:$B$6</c:f>
              <c:numCache>
                <c:formatCode>General</c:formatCode>
                <c:ptCount val="5"/>
                <c:pt idx="0">
                  <c:v>9.74</c:v>
                </c:pt>
                <c:pt idx="1">
                  <c:v>6.71</c:v>
                </c:pt>
                <c:pt idx="2">
                  <c:v>5.46</c:v>
                </c:pt>
                <c:pt idx="3">
                  <c:v>3.07</c:v>
                </c:pt>
                <c:pt idx="4">
                  <c:v>2.13</c:v>
                </c:pt>
              </c:numCache>
            </c:numRef>
          </c:val>
        </c:ser>
        <c:ser>
          <c:idx val="1"/>
          <c:order val="1"/>
          <c:tx>
            <c:strRef>
              <c:f>Sheet1!$C$1</c:f>
              <c:strCache>
                <c:ptCount val="1"/>
                <c:pt idx="0">
                  <c:v>Seasonal naive</c:v>
                </c:pt>
              </c:strCache>
            </c:strRef>
          </c:tx>
          <c:spPr>
            <a:solidFill>
              <a:srgbClr val="B6C6C3"/>
            </a:solidFill>
            <a:effectLst/>
          </c:spPr>
          <c:invertIfNegative val="0"/>
          <c:dLbls>
            <c:numFmt formatCode="0.0&quot;%&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Sheet1!$A$2:$A$6</c:f>
              <c:multiLvlStrCache>
                <c:ptCount val="5"/>
                <c:lvl>
                  <c:pt idx="0">
                    <c:v>Admissions</c:v>
                  </c:pt>
                  <c:pt idx="1">
                    <c:v>ER visits</c:v>
                  </c:pt>
                  <c:pt idx="2">
                    <c:v>OPD visits</c:v>
                  </c:pt>
                  <c:pt idx="3">
                    <c:v>Bed occupancy</c:v>
                  </c:pt>
                  <c:pt idx="4">
                    <c:v>ICU occupancy</c:v>
                  </c:pt>
                </c:lvl>
              </c:multiLvlStrCache>
            </c:multiLvlStrRef>
          </c:cat>
          <c:val>
            <c:numRef>
              <c:f>Sheet1!$C$2:$C$6</c:f>
              <c:numCache>
                <c:formatCode>General</c:formatCode>
                <c:ptCount val="5"/>
                <c:pt idx="0">
                  <c:v>8.53</c:v>
                </c:pt>
                <c:pt idx="1">
                  <c:v>8.71</c:v>
                </c:pt>
                <c:pt idx="2">
                  <c:v>6.66</c:v>
                </c:pt>
                <c:pt idx="3">
                  <c:v>4.14</c:v>
                </c:pt>
                <c:pt idx="4">
                  <c:v>2.33</c:v>
                </c:pt>
              </c:numCache>
            </c:numRef>
          </c:val>
        </c:ser>
        <c:dLbls>
          <c:numFmt formatCode="0.0&quot;%&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working multi-agent AI platform for hospital operations built from our synopsis. Nine specialised agents coordinated by an orchestrator, with humans approving every critical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problems listed in our synopsis. The core need: an intelligent, coordinated system that optimises resources and automates workflows while keeping clinicians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one big AI model we use eleven agents: the eight from the synopsis plus Notification, Billing &amp; Insurance and Ambulance Dispatch. The orchestrator plans which agents are needed, they share findings on a blackboard and talk using FIPA performatives like PROPOSE and REFUSE.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layers. The key layer is AI orchestration, which is where natural language becomes a plan and where the human-in-the-loop gate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whether typed by a doctor, registered at the ER desk, raised by the early-warning service or booked by a patient, goes through these ten steps and leaves a complete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click the ICU admission scenario. Watch agents light up in the network, the trace stream in, then open Explain on the bed and staff cards to show the factor breakdown. Finally approve the admission as a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the key design choice. Admissions, emergency assignments, AI-suggested tests, contraindicated prescriptions, surgeries, discharges and rosters all require an authorised approver. The approver can change the bed or doctor before approving. The administrator can switch the autonomy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one or two formulations if asked: CP-SAT maximises priority-weighted placements minus an explainable cost; the theatre model uses optional intervals and NoOverlap per theatre and per surgeon.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chest-pain preset on the Emergency page, then record NEWS2 ≥ 7 observations for a ward patient to show the automatic ICU-transfer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Tomorrow’s list was deliberately inefficient in the demo data. One click on Optimise day moves cases earlier and into free theatres, removing overlaps and overtime. Surgeries can also be booked by just asking the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click Random call on the Ambulance page. Show the unit moving, then the toast when the crew leaves the scene, then approve the bay before the patient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Presets: dengue surge, mass-casualty incident, nursing absence, ICU closure. Each recommendation can be applied in the twin and re-run, so the panel answers "what should we do", not just "what will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carry a stable reference, so re-syncing updates bed-days without duplicating lines. Cost estimates use the P10/P50/P90 stay from the LOS model. On discharge the invoice is finalised and the PM-JAY claim filed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features clinicians actually touch during a shift. Mention that the copilot is available on every page and that approvals can be decided inside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usually answers the examiner question about trust: we report leakage-free validation, not training accuracy, and we show how often a human disagreed with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produced by our evaluation script on the synthetic data. They demonstrate correctness and feasibility; clinical effectiveness would need a real hospital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Forecasts feed the Resource Optimization Agent: peak days and ICU occupancy above 90% trigger recommendations such as pre-emptive discharges. Be upfront that the naive baseline is slightly better on daily admissions — the noisiest series — and that we report it 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Ctrl+K global search, voice input in the console, printable discharge summaries and the installable PWA.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run in about 15 seconds with a fresh database. Integration tests cover the complete human-in-the-loop flow including rollback on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limitation: data is synthetic and integrations are simulated; clinical validation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app running before the viva: start.bat, then log in as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4"/>
        </a:solidFill>
      </p:bgPr>
    </p:bg>
    <p:spTree>
      <p:nvGrpSpPr>
        <p:cNvPr id="1" name=""/>
        <p:cNvGrpSpPr/>
        <p:nvPr/>
      </p:nvGrpSpPr>
      <p:grpSpPr>
        <a:xfrm>
          <a:off x="0" y="0"/>
          <a:ext cx="0" cy="0"/>
          <a:chOff x="0" y="0"/>
          <a:chExt cx="0" cy="0"/>
        </a:xfrm>
      </p:grpSpPr>
      <p:pic>
        <p:nvPicPr>
          <p:cNvPr id="2" name="Image 0" descr="D:\codin\idea lab\frontend\public\icon-512.png">    </p:cNvPr>
          <p:cNvPicPr>
            <a:picLocks noChangeAspect="1"/>
          </p:cNvPicPr>
          <p:nvPr/>
        </p:nvPicPr>
        <p:blipFill>
          <a:blip r:embed="rId1"/>
          <a:stretch>
            <a:fillRect/>
          </a:stretch>
        </p:blipFill>
        <p:spPr>
          <a:xfrm>
            <a:off x="640080" y="640080"/>
            <a:ext cx="822960" cy="822960"/>
          </a:xfrm>
          <a:prstGeom prst="rect">
            <a:avLst/>
          </a:prstGeom>
        </p:spPr>
      </p:pic>
      <p:sp>
        <p:nvSpPr>
          <p:cNvPr id="3" name="Text 0"/>
          <p:cNvSpPr txBox="1"/>
          <p:nvPr/>
        </p:nvSpPr>
        <p:spPr>
          <a:xfrm>
            <a:off x="1645920" y="731520"/>
            <a:ext cx="4572000" cy="365760"/>
          </a:xfrm>
          <a:prstGeom prst="rect">
            <a:avLst/>
          </a:prstGeom>
          <a:noFill/>
          <a:ln/>
        </p:spPr>
        <p:txBody>
          <a:bodyPr wrap="square" lIns="0" tIns="0" rIns="0" bIns="0" rtlCol="0" anchor="t"/>
          <a:lstStyle/>
          <a:p>
            <a:pPr indent="0" marL="0">
              <a:buNone/>
            </a:pPr>
            <a:r>
              <a:rPr lang="en-US" sz="1800" b="1" dirty="0">
                <a:solidFill>
                  <a:srgbClr val="CCFBF1"/>
                </a:solidFill>
                <a:latin typeface="Calibri" pitchFamily="34" charset="0"/>
                <a:ea typeface="Calibri" pitchFamily="34" charset="-122"/>
                <a:cs typeface="Calibri" pitchFamily="34" charset="-120"/>
              </a:rPr>
              <a:t>MedOrchestra</a:t>
            </a:r>
            <a:endParaRPr lang="en-US" sz="1800" dirty="0"/>
          </a:p>
        </p:txBody>
      </p:sp>
      <p:sp>
        <p:nvSpPr>
          <p:cNvPr id="4" name="Text 1"/>
          <p:cNvSpPr txBox="1"/>
          <p:nvPr/>
        </p:nvSpPr>
        <p:spPr>
          <a:xfrm>
            <a:off x="1645920" y="1097280"/>
            <a:ext cx="4572000" cy="320040"/>
          </a:xfrm>
          <a:prstGeom prst="rect">
            <a:avLst/>
          </a:prstGeom>
          <a:noFill/>
          <a:ln/>
        </p:spPr>
        <p:txBody>
          <a:bodyPr wrap="square" lIns="0" tIns="0" rIns="0" bIns="0" rtlCol="0" anchor="t"/>
          <a:lstStyle/>
          <a:p>
            <a:pPr indent="0" marL="0">
              <a:buNone/>
            </a:pPr>
            <a:r>
              <a:rPr lang="en-US" sz="1300" dirty="0">
                <a:solidFill>
                  <a:srgbClr val="9FB7B3"/>
                </a:solidFill>
                <a:latin typeface="Calibri" pitchFamily="34" charset="0"/>
                <a:ea typeface="Calibri" pitchFamily="34" charset="-122"/>
                <a:cs typeface="Calibri" pitchFamily="34" charset="-120"/>
              </a:rPr>
              <a:t>Multi-Agent Hospital Intelligence Platform</a:t>
            </a:r>
            <a:endParaRPr lang="en-US" sz="1300" dirty="0"/>
          </a:p>
        </p:txBody>
      </p:sp>
      <p:sp>
        <p:nvSpPr>
          <p:cNvPr id="5" name="Text 2"/>
          <p:cNvSpPr txBox="1"/>
          <p:nvPr/>
        </p:nvSpPr>
        <p:spPr>
          <a:xfrm>
            <a:off x="640080" y="2011680"/>
            <a:ext cx="5669280" cy="21945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Multi-Agent AI Systems for Hospital Resource Optimization, Clinical Workflow Automation and Patient Care Coordination</a:t>
            </a:r>
            <a:endParaRPr lang="en-US" sz="3000" dirty="0"/>
          </a:p>
        </p:txBody>
      </p:sp>
      <p:sp>
        <p:nvSpPr>
          <p:cNvPr id="6" name="Text 3"/>
          <p:cNvSpPr txBox="1"/>
          <p:nvPr/>
        </p:nvSpPr>
        <p:spPr>
          <a:xfrm>
            <a:off x="640080" y="4389120"/>
            <a:ext cx="5486400" cy="365760"/>
          </a:xfrm>
          <a:prstGeom prst="rect">
            <a:avLst/>
          </a:prstGeom>
          <a:noFill/>
          <a:ln/>
        </p:spPr>
        <p:txBody>
          <a:bodyPr wrap="square" lIns="0" tIns="0" rIns="0" bIns="0" rtlCol="0" anchor="t"/>
          <a:lstStyle/>
          <a:p>
            <a:pPr indent="0" marL="0">
              <a:buNone/>
            </a:pPr>
            <a:r>
              <a:rPr lang="en-US" sz="1600" i="1" dirty="0">
                <a:solidFill>
                  <a:srgbClr val="14B8A6"/>
                </a:solidFill>
                <a:latin typeface="Calibri" pitchFamily="34" charset="0"/>
                <a:ea typeface="Calibri" pitchFamily="34" charset="-122"/>
                <a:cs typeface="Calibri" pitchFamily="34" charset="-120"/>
              </a:rPr>
              <a:t>Project presentation</a:t>
            </a:r>
            <a:endParaRPr lang="en-US" sz="1600" dirty="0"/>
          </a:p>
        </p:txBody>
      </p:sp>
      <p:sp>
        <p:nvSpPr>
          <p:cNvPr id="7" name="Text 4"/>
          <p:cNvSpPr txBox="1"/>
          <p:nvPr/>
        </p:nvSpPr>
        <p:spPr>
          <a:xfrm>
            <a:off x="640080" y="4937760"/>
            <a:ext cx="5669280" cy="1188720"/>
          </a:xfrm>
          <a:prstGeom prst="rect">
            <a:avLst/>
          </a:prstGeom>
          <a:noFill/>
          <a:ln/>
        </p:spPr>
        <p:txBody>
          <a:bodyPr wrap="square" lIns="0" tIns="0" rIns="0" bIns="0" rtlCol="0" anchor="t"/>
          <a:lstStyle/>
          <a:p>
            <a:pPr indent="0" marL="0">
              <a:spcAft>
                <a:spcPts val="400"/>
              </a:spcAft>
              <a:buNone/>
            </a:pPr>
            <a:r>
              <a:rPr lang="en-US" sz="1300" dirty="0">
                <a:solidFill>
                  <a:srgbClr val="C9D6D4"/>
                </a:solidFill>
                <a:latin typeface="Calibri" pitchFamily="34" charset="0"/>
                <a:ea typeface="Calibri" pitchFamily="34" charset="-122"/>
                <a:cs typeface="Calibri" pitchFamily="34" charset="-120"/>
              </a:rPr>
              <a:t>Submitted by: ______________________   Roll No.: ________</a:t>
            </a:r>
            <a:endParaRPr lang="en-US" sz="1300" dirty="0"/>
          </a:p>
          <a:p>
            <a:pPr indent="0" marL="0">
              <a:spcAft>
                <a:spcPts val="400"/>
              </a:spcAft>
              <a:buNone/>
            </a:pPr>
            <a:r>
              <a:rPr lang="en-US" sz="1300" dirty="0">
                <a:solidFill>
                  <a:srgbClr val="C9D6D4"/>
                </a:solidFill>
                <a:latin typeface="Calibri" pitchFamily="34" charset="0"/>
                <a:ea typeface="Calibri" pitchFamily="34" charset="-122"/>
                <a:cs typeface="Calibri" pitchFamily="34" charset="-120"/>
              </a:rPr>
              <a:t>Guide: ______________________</a:t>
            </a:r>
            <a:endParaRPr lang="en-US" sz="1300" dirty="0"/>
          </a:p>
          <a:p>
            <a:pPr indent="0" marL="0">
              <a:spcAft>
                <a:spcPts val="400"/>
              </a:spcAft>
              <a:buNone/>
            </a:pPr>
            <a:r>
              <a:rPr lang="en-US" sz="1300" dirty="0">
                <a:solidFill>
                  <a:srgbClr val="C9D6D4"/>
                </a:solidFill>
                <a:latin typeface="Calibri" pitchFamily="34" charset="0"/>
                <a:ea typeface="Calibri" pitchFamily="34" charset="-122"/>
                <a:cs typeface="Calibri" pitchFamily="34" charset="-120"/>
              </a:rPr>
              <a:t>Department of ______________________ · 2026–27</a:t>
            </a:r>
            <a:endParaRPr lang="en-US" sz="1300" dirty="0"/>
          </a:p>
        </p:txBody>
      </p:sp>
      <p:sp>
        <p:nvSpPr>
          <p:cNvPr id="8" name="Shape 5"/>
          <p:cNvSpPr/>
          <p:nvPr/>
        </p:nvSpPr>
        <p:spPr>
          <a:xfrm>
            <a:off x="6583680" y="1623060"/>
            <a:ext cx="5120640" cy="3611880"/>
          </a:xfrm>
          <a:prstGeom prst="roundRect">
            <a:avLst>
              <a:gd name="adj" fmla="val 2025"/>
            </a:avLst>
          </a:prstGeom>
          <a:solidFill>
            <a:srgbClr val="17343A"/>
          </a:solidFill>
          <a:ln w="12700">
            <a:solidFill>
              <a:srgbClr val="2A5058"/>
            </a:solidFill>
            <a:prstDash val="solid"/>
          </a:ln>
        </p:spPr>
      </p:sp>
      <p:pic>
        <p:nvPicPr>
          <p:cNvPr id="9" name="Image 1" descr="C:\Users\HP\AppData\Local\Temp\claude\D--codin-idea-lab\87151ddf-948a-4e83-8159-c0449757400e\scratchpad\report\shots\dashboard.png">    </p:cNvPr>
          <p:cNvPicPr>
            <a:picLocks noChangeAspect="1"/>
          </p:cNvPicPr>
          <p:nvPr/>
        </p:nvPicPr>
        <p:blipFill>
          <a:blip r:embed="rId2"/>
          <a:stretch>
            <a:fillRect/>
          </a:stretch>
        </p:blipFill>
        <p:spPr>
          <a:xfrm>
            <a:off x="6675120" y="1714500"/>
            <a:ext cx="4937760" cy="3429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Hospital operations run on disconnected systems, phone calls and spreadsheets</a:t>
            </a:r>
            <a:endParaRPr lang="en-US" sz="1500" dirty="0"/>
          </a:p>
        </p:txBody>
      </p:sp>
      <p:sp>
        <p:nvSpPr>
          <p:cNvPr id="4" name="Shape 2"/>
          <p:cNvSpPr/>
          <p:nvPr/>
        </p:nvSpPr>
        <p:spPr>
          <a:xfrm>
            <a:off x="548640" y="169164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5" name="Shape 3"/>
          <p:cNvSpPr/>
          <p:nvPr/>
        </p:nvSpPr>
        <p:spPr>
          <a:xfrm>
            <a:off x="777240" y="1920240"/>
            <a:ext cx="457200" cy="457200"/>
          </a:xfrm>
          <a:prstGeom prst="ellipse">
            <a:avLst/>
          </a:prstGeom>
          <a:solidFill>
            <a:srgbClr val="0F5C54"/>
          </a:solidFill>
          <a:ln w="12700">
            <a:solidFill>
              <a:srgbClr val="0F5C54"/>
            </a:solidFill>
            <a:prstDash val="solid"/>
          </a:ln>
        </p:spPr>
      </p:sp>
      <p:sp>
        <p:nvSpPr>
          <p:cNvPr id="6" name="Text 4"/>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777240" y="251460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Fragmented information</a:t>
            </a:r>
            <a:endParaRPr lang="en-US" sz="1600" dirty="0"/>
          </a:p>
        </p:txBody>
      </p:sp>
      <p:sp>
        <p:nvSpPr>
          <p:cNvPr id="8" name="Text 6"/>
          <p:cNvSpPr txBox="1"/>
          <p:nvPr/>
        </p:nvSpPr>
        <p:spPr>
          <a:xfrm>
            <a:off x="777240" y="292608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Beds, staff, labs, pharmacy and appointments live in separate systems</a:t>
            </a:r>
            <a:endParaRPr lang="en-US" sz="1250" dirty="0"/>
          </a:p>
        </p:txBody>
      </p:sp>
      <p:sp>
        <p:nvSpPr>
          <p:cNvPr id="9" name="Shape 7"/>
          <p:cNvSpPr/>
          <p:nvPr/>
        </p:nvSpPr>
        <p:spPr>
          <a:xfrm>
            <a:off x="3355848" y="169164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0" name="Shape 8"/>
          <p:cNvSpPr/>
          <p:nvPr/>
        </p:nvSpPr>
        <p:spPr>
          <a:xfrm>
            <a:off x="3584448" y="1920240"/>
            <a:ext cx="457200" cy="457200"/>
          </a:xfrm>
          <a:prstGeom prst="ellipse">
            <a:avLst/>
          </a:prstGeom>
          <a:solidFill>
            <a:srgbClr val="0F5C54"/>
          </a:solidFill>
          <a:ln w="12700">
            <a:solidFill>
              <a:srgbClr val="0F5C54"/>
            </a:solidFill>
            <a:prstDash val="solid"/>
          </a:ln>
        </p:spPr>
      </p:sp>
      <p:sp>
        <p:nvSpPr>
          <p:cNvPr id="11" name="Text 9"/>
          <p:cNvSpPr txBox="1"/>
          <p:nvPr/>
        </p:nvSpPr>
        <p:spPr>
          <a:xfrm>
            <a:off x="3584448"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3584448" y="251460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Manual allocation</a:t>
            </a:r>
            <a:endParaRPr lang="en-US" sz="1600" dirty="0"/>
          </a:p>
        </p:txBody>
      </p:sp>
      <p:sp>
        <p:nvSpPr>
          <p:cNvPr id="13" name="Text 11"/>
          <p:cNvSpPr txBox="1"/>
          <p:nvPr/>
        </p:nvSpPr>
        <p:spPr>
          <a:xfrm>
            <a:off x="3584448" y="292608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Beds, ICU, theatres and staff assigned by hand — conflicts and idle capacity</a:t>
            </a:r>
            <a:endParaRPr lang="en-US" sz="1250" dirty="0"/>
          </a:p>
        </p:txBody>
      </p:sp>
      <p:sp>
        <p:nvSpPr>
          <p:cNvPr id="14" name="Shape 12"/>
          <p:cNvSpPr/>
          <p:nvPr/>
        </p:nvSpPr>
        <p:spPr>
          <a:xfrm>
            <a:off x="6163056" y="169164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5" name="Shape 13"/>
          <p:cNvSpPr/>
          <p:nvPr/>
        </p:nvSpPr>
        <p:spPr>
          <a:xfrm>
            <a:off x="6391656" y="1920240"/>
            <a:ext cx="457200" cy="457200"/>
          </a:xfrm>
          <a:prstGeom prst="ellipse">
            <a:avLst/>
          </a:prstGeom>
          <a:solidFill>
            <a:srgbClr val="0F5C54"/>
          </a:solidFill>
          <a:ln w="12700">
            <a:solidFill>
              <a:srgbClr val="0F5C54"/>
            </a:solidFill>
            <a:prstDash val="solid"/>
          </a:ln>
        </p:spPr>
      </p:sp>
      <p:sp>
        <p:nvSpPr>
          <p:cNvPr id="16" name="Text 14"/>
          <p:cNvSpPr txBox="1"/>
          <p:nvPr/>
        </p:nvSpPr>
        <p:spPr>
          <a:xfrm>
            <a:off x="6391656"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6391656" y="251460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Long waiting times</a:t>
            </a:r>
            <a:endParaRPr lang="en-US" sz="1600" dirty="0"/>
          </a:p>
        </p:txBody>
      </p:sp>
      <p:sp>
        <p:nvSpPr>
          <p:cNvPr id="18" name="Text 16"/>
          <p:cNvSpPr txBox="1"/>
          <p:nvPr/>
        </p:nvSpPr>
        <p:spPr>
          <a:xfrm>
            <a:off x="6391656" y="292608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Consultations, diagnostics and departments are not coordinated</a:t>
            </a:r>
            <a:endParaRPr lang="en-US" sz="1250" dirty="0"/>
          </a:p>
        </p:txBody>
      </p:sp>
      <p:sp>
        <p:nvSpPr>
          <p:cNvPr id="19" name="Shape 17"/>
          <p:cNvSpPr/>
          <p:nvPr/>
        </p:nvSpPr>
        <p:spPr>
          <a:xfrm>
            <a:off x="8970264" y="169164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0" name="Shape 18"/>
          <p:cNvSpPr/>
          <p:nvPr/>
        </p:nvSpPr>
        <p:spPr>
          <a:xfrm>
            <a:off x="9198864" y="1920240"/>
            <a:ext cx="457200" cy="457200"/>
          </a:xfrm>
          <a:prstGeom prst="ellipse">
            <a:avLst/>
          </a:prstGeom>
          <a:solidFill>
            <a:srgbClr val="0F5C54"/>
          </a:solidFill>
          <a:ln w="12700">
            <a:solidFill>
              <a:srgbClr val="0F5C54"/>
            </a:solidFill>
            <a:prstDash val="solid"/>
          </a:ln>
        </p:spPr>
      </p:sp>
      <p:sp>
        <p:nvSpPr>
          <p:cNvPr id="21" name="Text 19"/>
          <p:cNvSpPr txBox="1"/>
          <p:nvPr/>
        </p:nvSpPr>
        <p:spPr>
          <a:xfrm>
            <a:off x="9198864"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9198864" y="251460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Communication gaps</a:t>
            </a:r>
            <a:endParaRPr lang="en-US" sz="1600" dirty="0"/>
          </a:p>
        </p:txBody>
      </p:sp>
      <p:sp>
        <p:nvSpPr>
          <p:cNvPr id="23" name="Text 21"/>
          <p:cNvSpPr txBox="1"/>
          <p:nvPr/>
        </p:nvSpPr>
        <p:spPr>
          <a:xfrm>
            <a:off x="9198864" y="292608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Updates between departments are delayed or missed</a:t>
            </a:r>
            <a:endParaRPr lang="en-US" sz="1250" dirty="0"/>
          </a:p>
        </p:txBody>
      </p:sp>
      <p:sp>
        <p:nvSpPr>
          <p:cNvPr id="24" name="Shape 22"/>
          <p:cNvSpPr/>
          <p:nvPr/>
        </p:nvSpPr>
        <p:spPr>
          <a:xfrm>
            <a:off x="548640" y="393192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5" name="Shape 23"/>
          <p:cNvSpPr/>
          <p:nvPr/>
        </p:nvSpPr>
        <p:spPr>
          <a:xfrm>
            <a:off x="777240" y="4160520"/>
            <a:ext cx="457200" cy="457200"/>
          </a:xfrm>
          <a:prstGeom prst="ellipse">
            <a:avLst/>
          </a:prstGeom>
          <a:solidFill>
            <a:srgbClr val="F97360"/>
          </a:solidFill>
          <a:ln w="12700">
            <a:solidFill>
              <a:srgbClr val="F97360"/>
            </a:solidFill>
            <a:prstDash val="solid"/>
          </a:ln>
        </p:spPr>
      </p:sp>
      <p:sp>
        <p:nvSpPr>
          <p:cNvPr id="26" name="Text 24"/>
          <p:cNvSpPr txBox="1"/>
          <p:nvPr/>
        </p:nvSpPr>
        <p:spPr>
          <a:xfrm>
            <a:off x="777240" y="4160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777240" y="475488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Emergency coordination</a:t>
            </a:r>
            <a:endParaRPr lang="en-US" sz="1600" dirty="0"/>
          </a:p>
        </p:txBody>
      </p:sp>
      <p:sp>
        <p:nvSpPr>
          <p:cNvPr id="28" name="Text 26"/>
          <p:cNvSpPr txBox="1"/>
          <p:nvPr/>
        </p:nvSpPr>
        <p:spPr>
          <a:xfrm>
            <a:off x="777240" y="516636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Critical cases need beds, teams and tests simultaneously</a:t>
            </a:r>
            <a:endParaRPr lang="en-US" sz="1250" dirty="0"/>
          </a:p>
        </p:txBody>
      </p:sp>
      <p:sp>
        <p:nvSpPr>
          <p:cNvPr id="29" name="Shape 27"/>
          <p:cNvSpPr/>
          <p:nvPr/>
        </p:nvSpPr>
        <p:spPr>
          <a:xfrm>
            <a:off x="3355848" y="393192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30" name="Shape 28"/>
          <p:cNvSpPr/>
          <p:nvPr/>
        </p:nvSpPr>
        <p:spPr>
          <a:xfrm>
            <a:off x="3584448" y="4160520"/>
            <a:ext cx="457200" cy="457200"/>
          </a:xfrm>
          <a:prstGeom prst="ellipse">
            <a:avLst/>
          </a:prstGeom>
          <a:solidFill>
            <a:srgbClr val="F97360"/>
          </a:solidFill>
          <a:ln w="12700">
            <a:solidFill>
              <a:srgbClr val="F97360"/>
            </a:solidFill>
            <a:prstDash val="solid"/>
          </a:ln>
        </p:spPr>
      </p:sp>
      <p:sp>
        <p:nvSpPr>
          <p:cNvPr id="31" name="Text 29"/>
          <p:cNvSpPr txBox="1"/>
          <p:nvPr/>
        </p:nvSpPr>
        <p:spPr>
          <a:xfrm>
            <a:off x="3584448" y="4160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3584448" y="475488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Late escalation</a:t>
            </a:r>
            <a:endParaRPr lang="en-US" sz="1600" dirty="0"/>
          </a:p>
        </p:txBody>
      </p:sp>
      <p:sp>
        <p:nvSpPr>
          <p:cNvPr id="33" name="Text 31"/>
          <p:cNvSpPr txBox="1"/>
          <p:nvPr/>
        </p:nvSpPr>
        <p:spPr>
          <a:xfrm>
            <a:off x="3584448" y="516636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Deteriorating ward patients are noticed too late</a:t>
            </a:r>
            <a:endParaRPr lang="en-US" sz="1250" dirty="0"/>
          </a:p>
        </p:txBody>
      </p:sp>
      <p:sp>
        <p:nvSpPr>
          <p:cNvPr id="34" name="Shape 32"/>
          <p:cNvSpPr/>
          <p:nvPr/>
        </p:nvSpPr>
        <p:spPr>
          <a:xfrm>
            <a:off x="6163056" y="393192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35" name="Shape 33"/>
          <p:cNvSpPr/>
          <p:nvPr/>
        </p:nvSpPr>
        <p:spPr>
          <a:xfrm>
            <a:off x="6391656" y="4160520"/>
            <a:ext cx="457200" cy="457200"/>
          </a:xfrm>
          <a:prstGeom prst="ellipse">
            <a:avLst/>
          </a:prstGeom>
          <a:solidFill>
            <a:srgbClr val="0F5C54"/>
          </a:solidFill>
          <a:ln w="12700">
            <a:solidFill>
              <a:srgbClr val="0F5C54"/>
            </a:solidFill>
            <a:prstDash val="solid"/>
          </a:ln>
        </p:spPr>
      </p:sp>
      <p:sp>
        <p:nvSpPr>
          <p:cNvPr id="36" name="Text 34"/>
          <p:cNvSpPr txBox="1"/>
          <p:nvPr/>
        </p:nvSpPr>
        <p:spPr>
          <a:xfrm>
            <a:off x="6391656" y="4160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7" name="Text 35"/>
          <p:cNvSpPr txBox="1"/>
          <p:nvPr/>
        </p:nvSpPr>
        <p:spPr>
          <a:xfrm>
            <a:off x="6391656" y="475488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No predictive planning</a:t>
            </a:r>
            <a:endParaRPr lang="en-US" sz="1600" dirty="0"/>
          </a:p>
        </p:txBody>
      </p:sp>
      <p:sp>
        <p:nvSpPr>
          <p:cNvPr id="38" name="Text 36"/>
          <p:cNvSpPr txBox="1"/>
          <p:nvPr/>
        </p:nvSpPr>
        <p:spPr>
          <a:xfrm>
            <a:off x="6391656" y="516636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Historical data is not used to anticipate demand</a:t>
            </a:r>
            <a:endParaRPr lang="en-US" sz="1250" dirty="0"/>
          </a:p>
        </p:txBody>
      </p:sp>
      <p:sp>
        <p:nvSpPr>
          <p:cNvPr id="39" name="Shape 37"/>
          <p:cNvSpPr/>
          <p:nvPr/>
        </p:nvSpPr>
        <p:spPr>
          <a:xfrm>
            <a:off x="8970264" y="3931920"/>
            <a:ext cx="2606040" cy="2011680"/>
          </a:xfrm>
          <a:prstGeom prst="roundRect">
            <a:avLst>
              <a:gd name="adj" fmla="val 363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40" name="Shape 38"/>
          <p:cNvSpPr/>
          <p:nvPr/>
        </p:nvSpPr>
        <p:spPr>
          <a:xfrm>
            <a:off x="9198864" y="4160520"/>
            <a:ext cx="457200" cy="457200"/>
          </a:xfrm>
          <a:prstGeom prst="ellipse">
            <a:avLst/>
          </a:prstGeom>
          <a:solidFill>
            <a:srgbClr val="0F5C54"/>
          </a:solidFill>
          <a:ln w="12700">
            <a:solidFill>
              <a:srgbClr val="0F5C54"/>
            </a:solidFill>
            <a:prstDash val="solid"/>
          </a:ln>
        </p:spPr>
      </p:sp>
      <p:sp>
        <p:nvSpPr>
          <p:cNvPr id="41" name="Text 39"/>
          <p:cNvSpPr txBox="1"/>
          <p:nvPr/>
        </p:nvSpPr>
        <p:spPr>
          <a:xfrm>
            <a:off x="9198864" y="4160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2" name="Text 40"/>
          <p:cNvSpPr txBox="1"/>
          <p:nvPr/>
        </p:nvSpPr>
        <p:spPr>
          <a:xfrm>
            <a:off x="9198864" y="4754880"/>
            <a:ext cx="2194560" cy="4114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Administrative overload</a:t>
            </a:r>
            <a:endParaRPr lang="en-US" sz="1600" dirty="0"/>
          </a:p>
        </p:txBody>
      </p:sp>
      <p:sp>
        <p:nvSpPr>
          <p:cNvPr id="43" name="Text 41"/>
          <p:cNvSpPr txBox="1"/>
          <p:nvPr/>
        </p:nvSpPr>
        <p:spPr>
          <a:xfrm>
            <a:off x="9198864" y="5166360"/>
            <a:ext cx="2194560"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Clinicians spend time chasing instead of treating</a:t>
            </a:r>
            <a:endParaRPr lang="en-US" sz="1250" dirty="0"/>
          </a:p>
        </p:txBody>
      </p:sp>
      <p:sp>
        <p:nvSpPr>
          <p:cNvPr id="44" name="Text 42"/>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Our solution: eleven specialised agents, one orchestrator</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Each agent owns one domain and uses the right algorithm; the orchestrator composes them per request</a:t>
            </a:r>
            <a:endParaRPr lang="en-US" sz="1500" dirty="0"/>
          </a:p>
        </p:txBody>
      </p:sp>
      <p:sp>
        <p:nvSpPr>
          <p:cNvPr id="4" name="Shape 2"/>
          <p:cNvSpPr/>
          <p:nvPr/>
        </p:nvSpPr>
        <p:spPr>
          <a:xfrm flipV="1">
            <a:off x="3566160" y="2103120"/>
            <a:ext cx="9144" cy="1874520"/>
          </a:xfrm>
          <a:prstGeom prst="line">
            <a:avLst/>
          </a:prstGeom>
          <a:noFill/>
          <a:ln w="15875">
            <a:solidFill>
              <a:srgbClr val="A7C9C3"/>
            </a:solidFill>
            <a:prstDash val="solid"/>
          </a:ln>
        </p:spPr>
      </p:sp>
      <p:sp>
        <p:nvSpPr>
          <p:cNvPr id="5" name="Shape 3"/>
          <p:cNvSpPr/>
          <p:nvPr/>
        </p:nvSpPr>
        <p:spPr>
          <a:xfrm flipV="1">
            <a:off x="3566160" y="2400693"/>
            <a:ext cx="1260623" cy="1576947"/>
          </a:xfrm>
          <a:prstGeom prst="line">
            <a:avLst/>
          </a:prstGeom>
          <a:noFill/>
          <a:ln w="15875">
            <a:solidFill>
              <a:srgbClr val="A7C9C3"/>
            </a:solidFill>
            <a:prstDash val="solid"/>
          </a:ln>
        </p:spPr>
      </p:sp>
      <p:sp>
        <p:nvSpPr>
          <p:cNvPr id="6" name="Shape 4"/>
          <p:cNvSpPr/>
          <p:nvPr/>
        </p:nvSpPr>
        <p:spPr>
          <a:xfrm flipV="1">
            <a:off x="3566160" y="3198936"/>
            <a:ext cx="2121007" cy="778704"/>
          </a:xfrm>
          <a:prstGeom prst="line">
            <a:avLst/>
          </a:prstGeom>
          <a:noFill/>
          <a:ln w="15875">
            <a:solidFill>
              <a:srgbClr val="A7C9C3"/>
            </a:solidFill>
            <a:prstDash val="solid"/>
          </a:ln>
        </p:spPr>
      </p:sp>
      <p:sp>
        <p:nvSpPr>
          <p:cNvPr id="7" name="Shape 5"/>
          <p:cNvSpPr/>
          <p:nvPr/>
        </p:nvSpPr>
        <p:spPr>
          <a:xfrm>
            <a:off x="3566160" y="3977640"/>
            <a:ext cx="2307986" cy="266772"/>
          </a:xfrm>
          <a:prstGeom prst="line">
            <a:avLst/>
          </a:prstGeom>
          <a:noFill/>
          <a:ln w="15875">
            <a:solidFill>
              <a:srgbClr val="A7C9C3"/>
            </a:solidFill>
            <a:prstDash val="solid"/>
          </a:ln>
        </p:spPr>
      </p:sp>
      <p:sp>
        <p:nvSpPr>
          <p:cNvPr id="8" name="Shape 6"/>
          <p:cNvSpPr/>
          <p:nvPr/>
        </p:nvSpPr>
        <p:spPr>
          <a:xfrm>
            <a:off x="3566160" y="3977640"/>
            <a:ext cx="1762196" cy="1227550"/>
          </a:xfrm>
          <a:prstGeom prst="line">
            <a:avLst/>
          </a:prstGeom>
          <a:noFill/>
          <a:ln w="15875">
            <a:solidFill>
              <a:srgbClr val="A7C9C3"/>
            </a:solidFill>
            <a:prstDash val="solid"/>
          </a:ln>
        </p:spPr>
      </p:sp>
      <p:sp>
        <p:nvSpPr>
          <p:cNvPr id="9" name="Shape 7"/>
          <p:cNvSpPr/>
          <p:nvPr/>
        </p:nvSpPr>
        <p:spPr>
          <a:xfrm>
            <a:off x="3566160" y="3977640"/>
            <a:ext cx="656921" cy="1798589"/>
          </a:xfrm>
          <a:prstGeom prst="line">
            <a:avLst/>
          </a:prstGeom>
          <a:noFill/>
          <a:ln w="15875">
            <a:solidFill>
              <a:srgbClr val="A7C9C3"/>
            </a:solidFill>
            <a:prstDash val="solid"/>
          </a:ln>
        </p:spPr>
      </p:sp>
      <p:sp>
        <p:nvSpPr>
          <p:cNvPr id="10" name="Shape 8"/>
          <p:cNvSpPr/>
          <p:nvPr/>
        </p:nvSpPr>
        <p:spPr>
          <a:xfrm flipV="1">
            <a:off x="2909239" y="3977640"/>
            <a:ext cx="656921" cy="1798589"/>
          </a:xfrm>
          <a:prstGeom prst="line">
            <a:avLst/>
          </a:prstGeom>
          <a:noFill/>
          <a:ln w="15875">
            <a:solidFill>
              <a:srgbClr val="A7C9C3"/>
            </a:solidFill>
            <a:prstDash val="solid"/>
          </a:ln>
        </p:spPr>
      </p:sp>
      <p:sp>
        <p:nvSpPr>
          <p:cNvPr id="11" name="Shape 9"/>
          <p:cNvSpPr/>
          <p:nvPr/>
        </p:nvSpPr>
        <p:spPr>
          <a:xfrm flipV="1">
            <a:off x="1803964" y="3977640"/>
            <a:ext cx="1762196" cy="1227550"/>
          </a:xfrm>
          <a:prstGeom prst="line">
            <a:avLst/>
          </a:prstGeom>
          <a:noFill/>
          <a:ln w="15875">
            <a:solidFill>
              <a:srgbClr val="A7C9C3"/>
            </a:solidFill>
            <a:prstDash val="solid"/>
          </a:ln>
        </p:spPr>
      </p:sp>
      <p:sp>
        <p:nvSpPr>
          <p:cNvPr id="12" name="Shape 10"/>
          <p:cNvSpPr/>
          <p:nvPr/>
        </p:nvSpPr>
        <p:spPr>
          <a:xfrm flipV="1">
            <a:off x="1258174" y="3977640"/>
            <a:ext cx="2307986" cy="266772"/>
          </a:xfrm>
          <a:prstGeom prst="line">
            <a:avLst/>
          </a:prstGeom>
          <a:noFill/>
          <a:ln w="15875">
            <a:solidFill>
              <a:srgbClr val="A7C9C3"/>
            </a:solidFill>
            <a:prstDash val="solid"/>
          </a:ln>
        </p:spPr>
      </p:sp>
      <p:sp>
        <p:nvSpPr>
          <p:cNvPr id="13" name="Shape 11"/>
          <p:cNvSpPr/>
          <p:nvPr/>
        </p:nvSpPr>
        <p:spPr>
          <a:xfrm>
            <a:off x="1445153" y="3198936"/>
            <a:ext cx="2121007" cy="778704"/>
          </a:xfrm>
          <a:prstGeom prst="line">
            <a:avLst/>
          </a:prstGeom>
          <a:noFill/>
          <a:ln w="15875">
            <a:solidFill>
              <a:srgbClr val="A7C9C3"/>
            </a:solidFill>
            <a:prstDash val="solid"/>
          </a:ln>
        </p:spPr>
      </p:sp>
      <p:sp>
        <p:nvSpPr>
          <p:cNvPr id="14" name="Shape 12"/>
          <p:cNvSpPr/>
          <p:nvPr/>
        </p:nvSpPr>
        <p:spPr>
          <a:xfrm>
            <a:off x="2305537" y="2400693"/>
            <a:ext cx="1260623" cy="1576947"/>
          </a:xfrm>
          <a:prstGeom prst="line">
            <a:avLst/>
          </a:prstGeom>
          <a:noFill/>
          <a:ln w="15875">
            <a:solidFill>
              <a:srgbClr val="A7C9C3"/>
            </a:solidFill>
            <a:prstDash val="solid"/>
          </a:ln>
        </p:spPr>
      </p:sp>
      <p:sp>
        <p:nvSpPr>
          <p:cNvPr id="15" name="Shape 13"/>
          <p:cNvSpPr/>
          <p:nvPr/>
        </p:nvSpPr>
        <p:spPr>
          <a:xfrm>
            <a:off x="2606040" y="3017520"/>
            <a:ext cx="1920240" cy="1920240"/>
          </a:xfrm>
          <a:prstGeom prst="ellipse">
            <a:avLst/>
          </a:prstGeom>
          <a:solidFill>
            <a:srgbClr val="0F5C54"/>
          </a:solidFill>
          <a:ln w="38100">
            <a:solidFill>
              <a:srgbClr val="FFFFFF"/>
            </a:solidFill>
            <a:prstDash val="solid"/>
          </a:ln>
        </p:spPr>
      </p:sp>
      <p:sp>
        <p:nvSpPr>
          <p:cNvPr id="16" name="Text 14"/>
          <p:cNvSpPr txBox="1"/>
          <p:nvPr/>
        </p:nvSpPr>
        <p:spPr>
          <a:xfrm>
            <a:off x="2606040" y="3017520"/>
            <a:ext cx="1920240" cy="1920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AI</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Orchestrator</a:t>
            </a:r>
            <a:endParaRPr lang="en-US" sz="1700" dirty="0"/>
          </a:p>
        </p:txBody>
      </p:sp>
      <p:sp>
        <p:nvSpPr>
          <p:cNvPr id="17" name="Shape 15"/>
          <p:cNvSpPr/>
          <p:nvPr/>
        </p:nvSpPr>
        <p:spPr>
          <a:xfrm>
            <a:off x="2834640" y="1828800"/>
            <a:ext cx="1463040" cy="548640"/>
          </a:xfrm>
          <a:prstGeom prst="roundRect">
            <a:avLst>
              <a:gd name="adj" fmla="val 20000"/>
            </a:avLst>
          </a:prstGeom>
          <a:solidFill>
            <a:srgbClr val="CCFBF1"/>
          </a:solidFill>
          <a:ln w="12700">
            <a:solidFill>
              <a:srgbClr val="14B8A6"/>
            </a:solidFill>
            <a:prstDash val="solid"/>
          </a:ln>
        </p:spPr>
      </p:sp>
      <p:sp>
        <p:nvSpPr>
          <p:cNvPr id="18" name="Text 16"/>
          <p:cNvSpPr txBox="1"/>
          <p:nvPr/>
        </p:nvSpPr>
        <p:spPr>
          <a:xfrm>
            <a:off x="2834640" y="1828800"/>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Bed Mgmt</a:t>
            </a:r>
            <a:endParaRPr lang="en-US" sz="1150" dirty="0"/>
          </a:p>
        </p:txBody>
      </p:sp>
      <p:sp>
        <p:nvSpPr>
          <p:cNvPr id="19" name="Shape 17"/>
          <p:cNvSpPr/>
          <p:nvPr/>
        </p:nvSpPr>
        <p:spPr>
          <a:xfrm>
            <a:off x="4095263" y="2126373"/>
            <a:ext cx="1463040" cy="548640"/>
          </a:xfrm>
          <a:prstGeom prst="roundRect">
            <a:avLst>
              <a:gd name="adj" fmla="val 20000"/>
            </a:avLst>
          </a:prstGeom>
          <a:solidFill>
            <a:srgbClr val="CCFBF1"/>
          </a:solidFill>
          <a:ln w="12700">
            <a:solidFill>
              <a:srgbClr val="14B8A6"/>
            </a:solidFill>
            <a:prstDash val="solid"/>
          </a:ln>
        </p:spPr>
      </p:sp>
      <p:sp>
        <p:nvSpPr>
          <p:cNvPr id="20" name="Text 18"/>
          <p:cNvSpPr txBox="1"/>
          <p:nvPr/>
        </p:nvSpPr>
        <p:spPr>
          <a:xfrm>
            <a:off x="4095263" y="2126373"/>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Appointment &amp; Queue</a:t>
            </a:r>
            <a:endParaRPr lang="en-US" sz="1150" dirty="0"/>
          </a:p>
        </p:txBody>
      </p:sp>
      <p:sp>
        <p:nvSpPr>
          <p:cNvPr id="21" name="Shape 19"/>
          <p:cNvSpPr/>
          <p:nvPr/>
        </p:nvSpPr>
        <p:spPr>
          <a:xfrm>
            <a:off x="4955647" y="2924616"/>
            <a:ext cx="1463040" cy="548640"/>
          </a:xfrm>
          <a:prstGeom prst="roundRect">
            <a:avLst>
              <a:gd name="adj" fmla="val 20000"/>
            </a:avLst>
          </a:prstGeom>
          <a:solidFill>
            <a:srgbClr val="CCFBF1"/>
          </a:solidFill>
          <a:ln w="12700">
            <a:solidFill>
              <a:srgbClr val="14B8A6"/>
            </a:solidFill>
            <a:prstDash val="solid"/>
          </a:ln>
        </p:spPr>
      </p:sp>
      <p:sp>
        <p:nvSpPr>
          <p:cNvPr id="22" name="Text 20"/>
          <p:cNvSpPr txBox="1"/>
          <p:nvPr/>
        </p:nvSpPr>
        <p:spPr>
          <a:xfrm>
            <a:off x="4955647" y="2924616"/>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Staff Scheduling</a:t>
            </a:r>
            <a:endParaRPr lang="en-US" sz="1150" dirty="0"/>
          </a:p>
        </p:txBody>
      </p:sp>
      <p:sp>
        <p:nvSpPr>
          <p:cNvPr id="23" name="Shape 21"/>
          <p:cNvSpPr/>
          <p:nvPr/>
        </p:nvSpPr>
        <p:spPr>
          <a:xfrm>
            <a:off x="5142626" y="3970092"/>
            <a:ext cx="1463040" cy="548640"/>
          </a:xfrm>
          <a:prstGeom prst="roundRect">
            <a:avLst>
              <a:gd name="adj" fmla="val 20000"/>
            </a:avLst>
          </a:prstGeom>
          <a:solidFill>
            <a:srgbClr val="CCFBF1"/>
          </a:solidFill>
          <a:ln w="12700">
            <a:solidFill>
              <a:srgbClr val="14B8A6"/>
            </a:solidFill>
            <a:prstDash val="solid"/>
          </a:ln>
        </p:spPr>
      </p:sp>
      <p:sp>
        <p:nvSpPr>
          <p:cNvPr id="24" name="Text 22"/>
          <p:cNvSpPr txBox="1"/>
          <p:nvPr/>
        </p:nvSpPr>
        <p:spPr>
          <a:xfrm>
            <a:off x="5142626" y="3970092"/>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Diagnostics</a:t>
            </a:r>
            <a:endParaRPr lang="en-US" sz="1150" dirty="0"/>
          </a:p>
        </p:txBody>
      </p:sp>
      <p:sp>
        <p:nvSpPr>
          <p:cNvPr id="25" name="Shape 23"/>
          <p:cNvSpPr/>
          <p:nvPr/>
        </p:nvSpPr>
        <p:spPr>
          <a:xfrm>
            <a:off x="4596836" y="4930870"/>
            <a:ext cx="1463040" cy="548640"/>
          </a:xfrm>
          <a:prstGeom prst="roundRect">
            <a:avLst>
              <a:gd name="adj" fmla="val 20000"/>
            </a:avLst>
          </a:prstGeom>
          <a:solidFill>
            <a:srgbClr val="CCFBF1"/>
          </a:solidFill>
          <a:ln w="12700">
            <a:solidFill>
              <a:srgbClr val="14B8A6"/>
            </a:solidFill>
            <a:prstDash val="solid"/>
          </a:ln>
        </p:spPr>
      </p:sp>
      <p:sp>
        <p:nvSpPr>
          <p:cNvPr id="26" name="Text 24"/>
          <p:cNvSpPr txBox="1"/>
          <p:nvPr/>
        </p:nvSpPr>
        <p:spPr>
          <a:xfrm>
            <a:off x="4596836" y="4930870"/>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Pharmacy</a:t>
            </a:r>
            <a:endParaRPr lang="en-US" sz="1150" dirty="0"/>
          </a:p>
        </p:txBody>
      </p:sp>
      <p:sp>
        <p:nvSpPr>
          <p:cNvPr id="27" name="Shape 25"/>
          <p:cNvSpPr/>
          <p:nvPr/>
        </p:nvSpPr>
        <p:spPr>
          <a:xfrm>
            <a:off x="3491561" y="5501909"/>
            <a:ext cx="1463040" cy="548640"/>
          </a:xfrm>
          <a:prstGeom prst="roundRect">
            <a:avLst>
              <a:gd name="adj" fmla="val 20000"/>
            </a:avLst>
          </a:prstGeom>
          <a:solidFill>
            <a:srgbClr val="CCFBF1"/>
          </a:solidFill>
          <a:ln w="12700">
            <a:solidFill>
              <a:srgbClr val="14B8A6"/>
            </a:solidFill>
            <a:prstDash val="solid"/>
          </a:ln>
        </p:spPr>
      </p:sp>
      <p:sp>
        <p:nvSpPr>
          <p:cNvPr id="28" name="Text 26"/>
          <p:cNvSpPr txBox="1"/>
          <p:nvPr/>
        </p:nvSpPr>
        <p:spPr>
          <a:xfrm>
            <a:off x="3491561" y="5501909"/>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Patient Care</a:t>
            </a:r>
            <a:endParaRPr lang="en-US" sz="1150" dirty="0"/>
          </a:p>
        </p:txBody>
      </p:sp>
      <p:sp>
        <p:nvSpPr>
          <p:cNvPr id="29" name="Shape 27"/>
          <p:cNvSpPr/>
          <p:nvPr/>
        </p:nvSpPr>
        <p:spPr>
          <a:xfrm>
            <a:off x="2177719" y="5501909"/>
            <a:ext cx="1463040" cy="548640"/>
          </a:xfrm>
          <a:prstGeom prst="roundRect">
            <a:avLst>
              <a:gd name="adj" fmla="val 20000"/>
            </a:avLst>
          </a:prstGeom>
          <a:solidFill>
            <a:srgbClr val="FDE8E3"/>
          </a:solidFill>
          <a:ln w="12700">
            <a:solidFill>
              <a:srgbClr val="F97360"/>
            </a:solidFill>
            <a:prstDash val="solid"/>
          </a:ln>
        </p:spPr>
      </p:sp>
      <p:sp>
        <p:nvSpPr>
          <p:cNvPr id="30" name="Text 28"/>
          <p:cNvSpPr txBox="1"/>
          <p:nvPr/>
        </p:nvSpPr>
        <p:spPr>
          <a:xfrm>
            <a:off x="2177719" y="5501909"/>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Emergency</a:t>
            </a:r>
            <a:endParaRPr lang="en-US" sz="1150" dirty="0"/>
          </a:p>
        </p:txBody>
      </p:sp>
      <p:sp>
        <p:nvSpPr>
          <p:cNvPr id="31" name="Shape 29"/>
          <p:cNvSpPr/>
          <p:nvPr/>
        </p:nvSpPr>
        <p:spPr>
          <a:xfrm>
            <a:off x="1072444" y="4930870"/>
            <a:ext cx="1463040" cy="548640"/>
          </a:xfrm>
          <a:prstGeom prst="roundRect">
            <a:avLst>
              <a:gd name="adj" fmla="val 20000"/>
            </a:avLst>
          </a:prstGeom>
          <a:solidFill>
            <a:srgbClr val="CCFBF1"/>
          </a:solidFill>
          <a:ln w="12700">
            <a:solidFill>
              <a:srgbClr val="14B8A6"/>
            </a:solidFill>
            <a:prstDash val="solid"/>
          </a:ln>
        </p:spPr>
      </p:sp>
      <p:sp>
        <p:nvSpPr>
          <p:cNvPr id="32" name="Text 30"/>
          <p:cNvSpPr txBox="1"/>
          <p:nvPr/>
        </p:nvSpPr>
        <p:spPr>
          <a:xfrm>
            <a:off x="1072444" y="4930870"/>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Resource Optimizer</a:t>
            </a:r>
            <a:endParaRPr lang="en-US" sz="1150" dirty="0"/>
          </a:p>
        </p:txBody>
      </p:sp>
      <p:sp>
        <p:nvSpPr>
          <p:cNvPr id="33" name="Shape 31"/>
          <p:cNvSpPr/>
          <p:nvPr/>
        </p:nvSpPr>
        <p:spPr>
          <a:xfrm>
            <a:off x="526654" y="3970092"/>
            <a:ext cx="1463040" cy="548640"/>
          </a:xfrm>
          <a:prstGeom prst="roundRect">
            <a:avLst>
              <a:gd name="adj" fmla="val 20000"/>
            </a:avLst>
          </a:prstGeom>
          <a:solidFill>
            <a:srgbClr val="CCFBF1"/>
          </a:solidFill>
          <a:ln w="12700">
            <a:solidFill>
              <a:srgbClr val="14B8A6"/>
            </a:solidFill>
            <a:prstDash val="solid"/>
          </a:ln>
        </p:spPr>
      </p:sp>
      <p:sp>
        <p:nvSpPr>
          <p:cNvPr id="34" name="Text 32"/>
          <p:cNvSpPr txBox="1"/>
          <p:nvPr/>
        </p:nvSpPr>
        <p:spPr>
          <a:xfrm>
            <a:off x="526654" y="3970092"/>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Billing &amp; Insurance</a:t>
            </a:r>
            <a:endParaRPr lang="en-US" sz="1150" dirty="0"/>
          </a:p>
        </p:txBody>
      </p:sp>
      <p:sp>
        <p:nvSpPr>
          <p:cNvPr id="35" name="Shape 33"/>
          <p:cNvSpPr/>
          <p:nvPr/>
        </p:nvSpPr>
        <p:spPr>
          <a:xfrm>
            <a:off x="713633" y="2924616"/>
            <a:ext cx="1463040" cy="548640"/>
          </a:xfrm>
          <a:prstGeom prst="roundRect">
            <a:avLst>
              <a:gd name="adj" fmla="val 20000"/>
            </a:avLst>
          </a:prstGeom>
          <a:solidFill>
            <a:srgbClr val="CCFBF1"/>
          </a:solidFill>
          <a:ln w="12700">
            <a:solidFill>
              <a:srgbClr val="14B8A6"/>
            </a:solidFill>
            <a:prstDash val="solid"/>
          </a:ln>
        </p:spPr>
      </p:sp>
      <p:sp>
        <p:nvSpPr>
          <p:cNvPr id="36" name="Text 34"/>
          <p:cNvSpPr txBox="1"/>
          <p:nvPr/>
        </p:nvSpPr>
        <p:spPr>
          <a:xfrm>
            <a:off x="713633" y="2924616"/>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Ambulance Dispatch</a:t>
            </a:r>
            <a:endParaRPr lang="en-US" sz="1150" dirty="0"/>
          </a:p>
        </p:txBody>
      </p:sp>
      <p:sp>
        <p:nvSpPr>
          <p:cNvPr id="37" name="Shape 35"/>
          <p:cNvSpPr/>
          <p:nvPr/>
        </p:nvSpPr>
        <p:spPr>
          <a:xfrm>
            <a:off x="1574017" y="2126373"/>
            <a:ext cx="1463040" cy="548640"/>
          </a:xfrm>
          <a:prstGeom prst="roundRect">
            <a:avLst>
              <a:gd name="adj" fmla="val 20000"/>
            </a:avLst>
          </a:prstGeom>
          <a:solidFill>
            <a:srgbClr val="CCFBF1"/>
          </a:solidFill>
          <a:ln w="12700">
            <a:solidFill>
              <a:srgbClr val="14B8A6"/>
            </a:solidFill>
            <a:prstDash val="solid"/>
          </a:ln>
        </p:spPr>
      </p:sp>
      <p:sp>
        <p:nvSpPr>
          <p:cNvPr id="38" name="Text 36"/>
          <p:cNvSpPr txBox="1"/>
          <p:nvPr/>
        </p:nvSpPr>
        <p:spPr>
          <a:xfrm>
            <a:off x="1574017" y="2126373"/>
            <a:ext cx="1463040"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Notification</a:t>
            </a:r>
            <a:endParaRPr lang="en-US" sz="1150" dirty="0"/>
          </a:p>
        </p:txBody>
      </p:sp>
      <p:sp>
        <p:nvSpPr>
          <p:cNvPr id="39" name="Shape 37"/>
          <p:cNvSpPr/>
          <p:nvPr/>
        </p:nvSpPr>
        <p:spPr>
          <a:xfrm>
            <a:off x="6949440" y="1691640"/>
            <a:ext cx="457200" cy="457200"/>
          </a:xfrm>
          <a:prstGeom prst="ellipse">
            <a:avLst/>
          </a:prstGeom>
          <a:solidFill>
            <a:srgbClr val="0F5C54"/>
          </a:solidFill>
          <a:ln w="12700">
            <a:solidFill>
              <a:srgbClr val="0F5C54"/>
            </a:solidFill>
            <a:prstDash val="solid"/>
          </a:ln>
        </p:spPr>
      </p:sp>
      <p:sp>
        <p:nvSpPr>
          <p:cNvPr id="40" name="Text 38"/>
          <p:cNvSpPr txBox="1"/>
          <p:nvPr/>
        </p:nvSpPr>
        <p:spPr>
          <a:xfrm>
            <a:off x="69494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1" name="Text 39"/>
          <p:cNvSpPr txBox="1"/>
          <p:nvPr/>
        </p:nvSpPr>
        <p:spPr>
          <a:xfrm>
            <a:off x="7589520" y="1673352"/>
            <a:ext cx="402336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Natural language in</a:t>
            </a:r>
            <a:endParaRPr lang="en-US" sz="1700" dirty="0"/>
          </a:p>
        </p:txBody>
      </p:sp>
      <p:sp>
        <p:nvSpPr>
          <p:cNvPr id="42" name="Text 40"/>
          <p:cNvSpPr txBox="1"/>
          <p:nvPr/>
        </p:nvSpPr>
        <p:spPr>
          <a:xfrm>
            <a:off x="7589520" y="2057400"/>
            <a:ext cx="4023360" cy="64008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Staff describe a need; NLP finds intents and entities</a:t>
            </a:r>
            <a:endParaRPr lang="en-US" sz="1350" dirty="0"/>
          </a:p>
        </p:txBody>
      </p:sp>
      <p:sp>
        <p:nvSpPr>
          <p:cNvPr id="43" name="Shape 41"/>
          <p:cNvSpPr/>
          <p:nvPr/>
        </p:nvSpPr>
        <p:spPr>
          <a:xfrm>
            <a:off x="6949440" y="2862072"/>
            <a:ext cx="457200" cy="457200"/>
          </a:xfrm>
          <a:prstGeom prst="ellipse">
            <a:avLst/>
          </a:prstGeom>
          <a:solidFill>
            <a:srgbClr val="0F5C54"/>
          </a:solidFill>
          <a:ln w="12700">
            <a:solidFill>
              <a:srgbClr val="0F5C54"/>
            </a:solidFill>
            <a:prstDash val="solid"/>
          </a:ln>
        </p:spPr>
      </p:sp>
      <p:sp>
        <p:nvSpPr>
          <p:cNvPr id="44" name="Text 42"/>
          <p:cNvSpPr txBox="1"/>
          <p:nvPr/>
        </p:nvSpPr>
        <p:spPr>
          <a:xfrm>
            <a:off x="694944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5" name="Text 43"/>
          <p:cNvSpPr txBox="1"/>
          <p:nvPr/>
        </p:nvSpPr>
        <p:spPr>
          <a:xfrm>
            <a:off x="7589520" y="2843784"/>
            <a:ext cx="402336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Plan &amp; coordinate</a:t>
            </a:r>
            <a:endParaRPr lang="en-US" sz="1700" dirty="0"/>
          </a:p>
        </p:txBody>
      </p:sp>
      <p:sp>
        <p:nvSpPr>
          <p:cNvPr id="46" name="Text 44"/>
          <p:cNvSpPr txBox="1"/>
          <p:nvPr/>
        </p:nvSpPr>
        <p:spPr>
          <a:xfrm>
            <a:off x="7589520" y="3227832"/>
            <a:ext cx="4023360" cy="64008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Dependency-ordered plan, shared blackboard, FIPA-ACL messages</a:t>
            </a:r>
            <a:endParaRPr lang="en-US" sz="1350" dirty="0"/>
          </a:p>
        </p:txBody>
      </p:sp>
      <p:sp>
        <p:nvSpPr>
          <p:cNvPr id="47" name="Shape 45"/>
          <p:cNvSpPr/>
          <p:nvPr/>
        </p:nvSpPr>
        <p:spPr>
          <a:xfrm>
            <a:off x="6949440" y="4032504"/>
            <a:ext cx="457200" cy="457200"/>
          </a:xfrm>
          <a:prstGeom prst="ellipse">
            <a:avLst/>
          </a:prstGeom>
          <a:solidFill>
            <a:srgbClr val="0F5C54"/>
          </a:solidFill>
          <a:ln w="12700">
            <a:solidFill>
              <a:srgbClr val="0F5C54"/>
            </a:solidFill>
            <a:prstDash val="solid"/>
          </a:ln>
        </p:spPr>
      </p:sp>
      <p:sp>
        <p:nvSpPr>
          <p:cNvPr id="48" name="Text 46"/>
          <p:cNvSpPr txBox="1"/>
          <p:nvPr/>
        </p:nvSpPr>
        <p:spPr>
          <a:xfrm>
            <a:off x="694944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9" name="Text 47"/>
          <p:cNvSpPr txBox="1"/>
          <p:nvPr/>
        </p:nvSpPr>
        <p:spPr>
          <a:xfrm>
            <a:off x="7589520" y="4014216"/>
            <a:ext cx="402336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Optimise &amp; explain</a:t>
            </a:r>
            <a:endParaRPr lang="en-US" sz="1700" dirty="0"/>
          </a:p>
        </p:txBody>
      </p:sp>
      <p:sp>
        <p:nvSpPr>
          <p:cNvPr id="50" name="Text 48"/>
          <p:cNvSpPr txBox="1"/>
          <p:nvPr/>
        </p:nvSpPr>
        <p:spPr>
          <a:xfrm>
            <a:off x="7589520" y="4398264"/>
            <a:ext cx="4023360" cy="64008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CP-SAT, NEWS2, queueing, forecasting, ML — with factor breakdowns</a:t>
            </a:r>
            <a:endParaRPr lang="en-US" sz="1350" dirty="0"/>
          </a:p>
        </p:txBody>
      </p:sp>
      <p:sp>
        <p:nvSpPr>
          <p:cNvPr id="51" name="Shape 49"/>
          <p:cNvSpPr/>
          <p:nvPr/>
        </p:nvSpPr>
        <p:spPr>
          <a:xfrm>
            <a:off x="6949440" y="5202936"/>
            <a:ext cx="457200" cy="457200"/>
          </a:xfrm>
          <a:prstGeom prst="ellipse">
            <a:avLst/>
          </a:prstGeom>
          <a:solidFill>
            <a:srgbClr val="0F5C54"/>
          </a:solidFill>
          <a:ln w="12700">
            <a:solidFill>
              <a:srgbClr val="0F5C54"/>
            </a:solidFill>
            <a:prstDash val="solid"/>
          </a:ln>
        </p:spPr>
      </p:sp>
      <p:sp>
        <p:nvSpPr>
          <p:cNvPr id="52" name="Text 50"/>
          <p:cNvSpPr txBox="1"/>
          <p:nvPr/>
        </p:nvSpPr>
        <p:spPr>
          <a:xfrm>
            <a:off x="6949440" y="52029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53" name="Text 51"/>
          <p:cNvSpPr txBox="1"/>
          <p:nvPr/>
        </p:nvSpPr>
        <p:spPr>
          <a:xfrm>
            <a:off x="7589520" y="5184648"/>
            <a:ext cx="402336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Humans decide</a:t>
            </a:r>
            <a:endParaRPr lang="en-US" sz="1700" dirty="0"/>
          </a:p>
        </p:txBody>
      </p:sp>
      <p:sp>
        <p:nvSpPr>
          <p:cNvPr id="54" name="Text 52"/>
          <p:cNvSpPr txBox="1"/>
          <p:nvPr/>
        </p:nvSpPr>
        <p:spPr>
          <a:xfrm>
            <a:off x="7589520" y="5568696"/>
            <a:ext cx="4023360" cy="64008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Critical actions wait for approval; approve, modify or reject</a:t>
            </a:r>
            <a:endParaRPr lang="en-US" sz="1350" dirty="0"/>
          </a:p>
        </p:txBody>
      </p:sp>
      <p:sp>
        <p:nvSpPr>
          <p:cNvPr id="55" name="Text 53"/>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System architecture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Layered design from the synopsis — requests flow down, live events flow back up over WebSockets</a:t>
            </a:r>
            <a:endParaRPr lang="en-US" sz="1500" dirty="0"/>
          </a:p>
        </p:txBody>
      </p:sp>
      <p:pic>
        <p:nvPicPr>
          <p:cNvPr id="4" name="Image 0" descr="C:\Users\HP\AppData\Local\Temp\claude\D--codin-idea-lab\87151ddf-948a-4e83-8159-c0449757400e\scratchpad\report\fig_arch.png">    </p:cNvPr>
          <p:cNvPicPr>
            <a:picLocks noChangeAspect="1"/>
          </p:cNvPicPr>
          <p:nvPr/>
        </p:nvPicPr>
        <p:blipFill>
          <a:blip r:embed="rId1"/>
          <a:stretch>
            <a:fillRect/>
          </a:stretch>
        </p:blipFill>
        <p:spPr>
          <a:xfrm>
            <a:off x="1191945" y="1463040"/>
            <a:ext cx="5479950" cy="5120640"/>
          </a:xfrm>
          <a:prstGeom prst="rect">
            <a:avLst/>
          </a:prstGeom>
        </p:spPr>
      </p:pic>
      <p:sp>
        <p:nvSpPr>
          <p:cNvPr id="5" name="Shape 2"/>
          <p:cNvSpPr/>
          <p:nvPr/>
        </p:nvSpPr>
        <p:spPr>
          <a:xfrm>
            <a:off x="7680960" y="1600200"/>
            <a:ext cx="3977640" cy="713232"/>
          </a:xfrm>
          <a:prstGeom prst="roundRect">
            <a:avLst>
              <a:gd name="adj" fmla="val 1025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7863840" y="1673352"/>
            <a:ext cx="3657600" cy="274320"/>
          </a:xfrm>
          <a:prstGeom prst="rect">
            <a:avLst/>
          </a:prstGeom>
          <a:noFill/>
          <a:ln/>
        </p:spPr>
        <p:txBody>
          <a:bodyPr wrap="square" lIns="0" tIns="0" rIns="0" bIns="0" rtlCol="0" anchor="t"/>
          <a:lstStyle/>
          <a:p>
            <a:pPr indent="0" marL="0">
              <a:buNone/>
            </a:pPr>
            <a:r>
              <a:rPr lang="en-US" sz="1350" b="1" dirty="0">
                <a:solidFill>
                  <a:srgbClr val="0F5C54"/>
                </a:solidFill>
                <a:latin typeface="Calibri" pitchFamily="34" charset="0"/>
                <a:ea typeface="Calibri" pitchFamily="34" charset="-122"/>
                <a:cs typeface="Calibri" pitchFamily="34" charset="-120"/>
              </a:rPr>
              <a:t>Client</a:t>
            </a:r>
            <a:endParaRPr lang="en-US" sz="1350" dirty="0"/>
          </a:p>
        </p:txBody>
      </p:sp>
      <p:sp>
        <p:nvSpPr>
          <p:cNvPr id="7" name="Text 4"/>
          <p:cNvSpPr txBox="1"/>
          <p:nvPr/>
        </p:nvSpPr>
        <p:spPr>
          <a:xfrm>
            <a:off x="7863840" y="1947672"/>
            <a:ext cx="3657600" cy="3200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React + TypeScript PWA: role dashboards, agent console, patient portal</a:t>
            </a:r>
            <a:endParaRPr lang="en-US" sz="1150" dirty="0"/>
          </a:p>
        </p:txBody>
      </p:sp>
      <p:sp>
        <p:nvSpPr>
          <p:cNvPr id="8" name="Shape 5"/>
          <p:cNvSpPr/>
          <p:nvPr/>
        </p:nvSpPr>
        <p:spPr>
          <a:xfrm>
            <a:off x="7680960" y="2423160"/>
            <a:ext cx="3977640" cy="713232"/>
          </a:xfrm>
          <a:prstGeom prst="roundRect">
            <a:avLst>
              <a:gd name="adj" fmla="val 1025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863840" y="2496312"/>
            <a:ext cx="3657600" cy="274320"/>
          </a:xfrm>
          <a:prstGeom prst="rect">
            <a:avLst/>
          </a:prstGeom>
          <a:noFill/>
          <a:ln/>
        </p:spPr>
        <p:txBody>
          <a:bodyPr wrap="square" lIns="0" tIns="0" rIns="0" bIns="0" rtlCol="0" anchor="t"/>
          <a:lstStyle/>
          <a:p>
            <a:pPr indent="0" marL="0">
              <a:buNone/>
            </a:pPr>
            <a:r>
              <a:rPr lang="en-US" sz="1350" b="1" dirty="0">
                <a:solidFill>
                  <a:srgbClr val="0F5C54"/>
                </a:solidFill>
                <a:latin typeface="Calibri" pitchFamily="34" charset="0"/>
                <a:ea typeface="Calibri" pitchFamily="34" charset="-122"/>
                <a:cs typeface="Calibri" pitchFamily="34" charset="-120"/>
              </a:rPr>
              <a:t>Application</a:t>
            </a:r>
            <a:endParaRPr lang="en-US" sz="1350" dirty="0"/>
          </a:p>
        </p:txBody>
      </p:sp>
      <p:sp>
        <p:nvSpPr>
          <p:cNvPr id="10" name="Text 7"/>
          <p:cNvSpPr txBox="1"/>
          <p:nvPr/>
        </p:nvSpPr>
        <p:spPr>
          <a:xfrm>
            <a:off x="7863840" y="2770632"/>
            <a:ext cx="3657600" cy="3200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FastAPI gateway · JWT · role-based access · WebSocket bus</a:t>
            </a:r>
            <a:endParaRPr lang="en-US" sz="1150" dirty="0"/>
          </a:p>
        </p:txBody>
      </p:sp>
      <p:sp>
        <p:nvSpPr>
          <p:cNvPr id="11" name="Shape 8"/>
          <p:cNvSpPr/>
          <p:nvPr/>
        </p:nvSpPr>
        <p:spPr>
          <a:xfrm>
            <a:off x="7680960" y="3246120"/>
            <a:ext cx="3977640" cy="713232"/>
          </a:xfrm>
          <a:prstGeom prst="roundRect">
            <a:avLst>
              <a:gd name="adj" fmla="val 10256"/>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2" name="Text 9"/>
          <p:cNvSpPr txBox="1"/>
          <p:nvPr/>
        </p:nvSpPr>
        <p:spPr>
          <a:xfrm>
            <a:off x="7863840" y="3319272"/>
            <a:ext cx="3657600" cy="274320"/>
          </a:xfrm>
          <a:prstGeom prst="rect">
            <a:avLst/>
          </a:prstGeom>
          <a:noFill/>
          <a:ln/>
        </p:spPr>
        <p:txBody>
          <a:bodyPr wrap="square" lIns="0" tIns="0" rIns="0" bIns="0" rtlCol="0" anchor="t"/>
          <a:lstStyle/>
          <a:p>
            <a:pPr indent="0" marL="0">
              <a:buNone/>
            </a:pPr>
            <a:r>
              <a:rPr lang="en-US" sz="1350" b="1" dirty="0">
                <a:solidFill>
                  <a:srgbClr val="0F5C54"/>
                </a:solidFill>
                <a:latin typeface="Calibri" pitchFamily="34" charset="0"/>
                <a:ea typeface="Calibri" pitchFamily="34" charset="-122"/>
                <a:cs typeface="Calibri" pitchFamily="34" charset="-120"/>
              </a:rPr>
              <a:t>Orchestration</a:t>
            </a:r>
            <a:endParaRPr lang="en-US" sz="1350" dirty="0"/>
          </a:p>
        </p:txBody>
      </p:sp>
      <p:sp>
        <p:nvSpPr>
          <p:cNvPr id="13" name="Text 10"/>
          <p:cNvSpPr txBox="1"/>
          <p:nvPr/>
        </p:nvSpPr>
        <p:spPr>
          <a:xfrm>
            <a:off x="7863840" y="3593592"/>
            <a:ext cx="3657600" cy="3200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NLP → planner (DAG) → blackboard → conflicts → HITL gate</a:t>
            </a:r>
            <a:endParaRPr lang="en-US" sz="1150" dirty="0"/>
          </a:p>
        </p:txBody>
      </p:sp>
      <p:sp>
        <p:nvSpPr>
          <p:cNvPr id="14" name="Shape 11"/>
          <p:cNvSpPr/>
          <p:nvPr/>
        </p:nvSpPr>
        <p:spPr>
          <a:xfrm>
            <a:off x="7680960" y="4069080"/>
            <a:ext cx="3977640" cy="713232"/>
          </a:xfrm>
          <a:prstGeom prst="roundRect">
            <a:avLst>
              <a:gd name="adj" fmla="val 1025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5" name="Text 12"/>
          <p:cNvSpPr txBox="1"/>
          <p:nvPr/>
        </p:nvSpPr>
        <p:spPr>
          <a:xfrm>
            <a:off x="7863840" y="4142232"/>
            <a:ext cx="3657600" cy="274320"/>
          </a:xfrm>
          <a:prstGeom prst="rect">
            <a:avLst/>
          </a:prstGeom>
          <a:noFill/>
          <a:ln/>
        </p:spPr>
        <p:txBody>
          <a:bodyPr wrap="square" lIns="0" tIns="0" rIns="0" bIns="0" rtlCol="0" anchor="t"/>
          <a:lstStyle/>
          <a:p>
            <a:pPr indent="0" marL="0">
              <a:buNone/>
            </a:pPr>
            <a:r>
              <a:rPr lang="en-US" sz="1350" b="1" dirty="0">
                <a:solidFill>
                  <a:srgbClr val="0F5C54"/>
                </a:solidFill>
                <a:latin typeface="Calibri" pitchFamily="34" charset="0"/>
                <a:ea typeface="Calibri" pitchFamily="34" charset="-122"/>
                <a:cs typeface="Calibri" pitchFamily="34" charset="-120"/>
              </a:rPr>
              <a:t>Agents</a:t>
            </a:r>
            <a:endParaRPr lang="en-US" sz="1350" dirty="0"/>
          </a:p>
        </p:txBody>
      </p:sp>
      <p:sp>
        <p:nvSpPr>
          <p:cNvPr id="16" name="Text 13"/>
          <p:cNvSpPr txBox="1"/>
          <p:nvPr/>
        </p:nvSpPr>
        <p:spPr>
          <a:xfrm>
            <a:off x="7863840" y="4416552"/>
            <a:ext cx="3657600" cy="3200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11 domain agents proposing explainable actions</a:t>
            </a:r>
            <a:endParaRPr lang="en-US" sz="1150" dirty="0"/>
          </a:p>
        </p:txBody>
      </p:sp>
      <p:sp>
        <p:nvSpPr>
          <p:cNvPr id="17" name="Shape 14"/>
          <p:cNvSpPr/>
          <p:nvPr/>
        </p:nvSpPr>
        <p:spPr>
          <a:xfrm>
            <a:off x="7680960" y="4892040"/>
            <a:ext cx="3977640" cy="713232"/>
          </a:xfrm>
          <a:prstGeom prst="roundRect">
            <a:avLst>
              <a:gd name="adj" fmla="val 1025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8" name="Text 15"/>
          <p:cNvSpPr txBox="1"/>
          <p:nvPr/>
        </p:nvSpPr>
        <p:spPr>
          <a:xfrm>
            <a:off x="7863840" y="4965192"/>
            <a:ext cx="3657600" cy="274320"/>
          </a:xfrm>
          <a:prstGeom prst="rect">
            <a:avLst/>
          </a:prstGeom>
          <a:noFill/>
          <a:ln/>
        </p:spPr>
        <p:txBody>
          <a:bodyPr wrap="square" lIns="0" tIns="0" rIns="0" bIns="0" rtlCol="0" anchor="t"/>
          <a:lstStyle/>
          <a:p>
            <a:pPr indent="0" marL="0">
              <a:buNone/>
            </a:pPr>
            <a:r>
              <a:rPr lang="en-US" sz="1350" b="1" dirty="0">
                <a:solidFill>
                  <a:srgbClr val="0F5C54"/>
                </a:solidFill>
                <a:latin typeface="Calibri" pitchFamily="34" charset="0"/>
                <a:ea typeface="Calibri" pitchFamily="34" charset="-122"/>
                <a:cs typeface="Calibri" pitchFamily="34" charset="-120"/>
              </a:rPr>
              <a:t>Services</a:t>
            </a:r>
            <a:endParaRPr lang="en-US" sz="1350" dirty="0"/>
          </a:p>
        </p:txBody>
      </p:sp>
      <p:sp>
        <p:nvSpPr>
          <p:cNvPr id="19" name="Text 16"/>
          <p:cNvSpPr txBox="1"/>
          <p:nvPr/>
        </p:nvSpPr>
        <p:spPr>
          <a:xfrm>
            <a:off x="7863840" y="5239512"/>
            <a:ext cx="3657600" cy="3200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OR-Tools CP-SAT · NEWS2 · M/M/c · Holt-Winters · Gradient Boosting</a:t>
            </a:r>
            <a:endParaRPr lang="en-US" sz="1150" dirty="0"/>
          </a:p>
        </p:txBody>
      </p:sp>
      <p:sp>
        <p:nvSpPr>
          <p:cNvPr id="20" name="Shape 17"/>
          <p:cNvSpPr/>
          <p:nvPr/>
        </p:nvSpPr>
        <p:spPr>
          <a:xfrm>
            <a:off x="7680960" y="5715000"/>
            <a:ext cx="3977640" cy="713232"/>
          </a:xfrm>
          <a:prstGeom prst="roundRect">
            <a:avLst>
              <a:gd name="adj" fmla="val 1025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1" name="Text 18"/>
          <p:cNvSpPr txBox="1"/>
          <p:nvPr/>
        </p:nvSpPr>
        <p:spPr>
          <a:xfrm>
            <a:off x="7863840" y="5788152"/>
            <a:ext cx="3657600" cy="274320"/>
          </a:xfrm>
          <a:prstGeom prst="rect">
            <a:avLst/>
          </a:prstGeom>
          <a:noFill/>
          <a:ln/>
        </p:spPr>
        <p:txBody>
          <a:bodyPr wrap="square" lIns="0" tIns="0" rIns="0" bIns="0" rtlCol="0" anchor="t"/>
          <a:lstStyle/>
          <a:p>
            <a:pPr indent="0" marL="0">
              <a:buNone/>
            </a:pPr>
            <a:r>
              <a:rPr lang="en-US" sz="1350" b="1" dirty="0">
                <a:solidFill>
                  <a:srgbClr val="0F5C54"/>
                </a:solidFill>
                <a:latin typeface="Calibri" pitchFamily="34" charset="0"/>
                <a:ea typeface="Calibri" pitchFamily="34" charset="-122"/>
                <a:cs typeface="Calibri" pitchFamily="34" charset="-120"/>
              </a:rPr>
              <a:t>Data</a:t>
            </a:r>
            <a:endParaRPr lang="en-US" sz="1350" dirty="0"/>
          </a:p>
        </p:txBody>
      </p:sp>
      <p:sp>
        <p:nvSpPr>
          <p:cNvPr id="22" name="Text 19"/>
          <p:cNvSpPr txBox="1"/>
          <p:nvPr/>
        </p:nvSpPr>
        <p:spPr>
          <a:xfrm>
            <a:off x="7863840" y="6062472"/>
            <a:ext cx="3657600" cy="3200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SQLAlchemy → SQLite (dev) / PostgreSQL (Docker)</a:t>
            </a:r>
            <a:endParaRPr lang="en-US" sz="1150" dirty="0"/>
          </a:p>
        </p:txBody>
      </p:sp>
      <p:sp>
        <p:nvSpPr>
          <p:cNvPr id="23" name="Text 20"/>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How a request is handled — the 10-step agent pipeline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Exactly the pipeline (i)–(x) proposed in the synopsis, implemented in the orchestrator</a:t>
            </a:r>
            <a:endParaRPr lang="en-US" sz="1500" dirty="0"/>
          </a:p>
        </p:txBody>
      </p:sp>
      <p:sp>
        <p:nvSpPr>
          <p:cNvPr id="4" name="Shape 2"/>
          <p:cNvSpPr/>
          <p:nvPr/>
        </p:nvSpPr>
        <p:spPr>
          <a:xfrm>
            <a:off x="457200" y="1733127"/>
            <a:ext cx="11247120" cy="1105745"/>
          </a:xfrm>
          <a:prstGeom prst="roundRect">
            <a:avLst>
              <a:gd name="adj" fmla="val 661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fig_pipeline.png">    </p:cNvPr>
          <p:cNvPicPr>
            <a:picLocks noChangeAspect="1"/>
          </p:cNvPicPr>
          <p:nvPr/>
        </p:nvPicPr>
        <p:blipFill>
          <a:blip r:embed="rId1"/>
          <a:stretch>
            <a:fillRect/>
          </a:stretch>
        </p:blipFill>
        <p:spPr>
          <a:xfrm>
            <a:off x="548640" y="1916007"/>
            <a:ext cx="11064240" cy="739985"/>
          </a:xfrm>
          <a:prstGeom prst="rect">
            <a:avLst/>
          </a:prstGeom>
        </p:spPr>
      </p:pic>
      <p:sp>
        <p:nvSpPr>
          <p:cNvPr id="6" name="Shape 3"/>
          <p:cNvSpPr/>
          <p:nvPr/>
        </p:nvSpPr>
        <p:spPr>
          <a:xfrm>
            <a:off x="548640" y="3657600"/>
            <a:ext cx="3520440" cy="2651760"/>
          </a:xfrm>
          <a:prstGeom prst="roundRect">
            <a:avLst>
              <a:gd name="adj" fmla="val 275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7" name="Shape 4"/>
          <p:cNvSpPr/>
          <p:nvPr/>
        </p:nvSpPr>
        <p:spPr>
          <a:xfrm>
            <a:off x="777240" y="3886200"/>
            <a:ext cx="457200" cy="457200"/>
          </a:xfrm>
          <a:prstGeom prst="ellipse">
            <a:avLst/>
          </a:prstGeom>
          <a:solidFill>
            <a:srgbClr val="0F5C54"/>
          </a:solidFill>
          <a:ln w="12700">
            <a:solidFill>
              <a:srgbClr val="0F5C54"/>
            </a:solidFill>
            <a:prstDash val="solid"/>
          </a:ln>
        </p:spPr>
      </p:sp>
      <p:sp>
        <p:nvSpPr>
          <p:cNvPr id="8" name="Text 5"/>
          <p:cNvSpPr txBox="1"/>
          <p:nvPr/>
        </p:nvSpPr>
        <p:spPr>
          <a:xfrm>
            <a:off x="77724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17320" y="3931920"/>
            <a:ext cx="246888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Understand</a:t>
            </a:r>
            <a:endParaRPr lang="en-US" sz="1800" dirty="0"/>
          </a:p>
        </p:txBody>
      </p:sp>
      <p:sp>
        <p:nvSpPr>
          <p:cNvPr id="10" name="Text 7"/>
          <p:cNvSpPr txBox="1"/>
          <p:nvPr/>
        </p:nvSpPr>
        <p:spPr>
          <a:xfrm>
            <a:off x="777240" y="4572000"/>
            <a:ext cx="3108960" cy="1645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TF-IDF + logistic regression (offline) or Claude with a strict JSON schema; entities grounded against the database (patients, medicines, vitals, beds, tests, procedures).</a:t>
            </a:r>
            <a:endParaRPr lang="en-US" sz="1300" dirty="0"/>
          </a:p>
        </p:txBody>
      </p:sp>
      <p:sp>
        <p:nvSpPr>
          <p:cNvPr id="11" name="Shape 8"/>
          <p:cNvSpPr/>
          <p:nvPr/>
        </p:nvSpPr>
        <p:spPr>
          <a:xfrm>
            <a:off x="4297680" y="3657600"/>
            <a:ext cx="3520440" cy="2651760"/>
          </a:xfrm>
          <a:prstGeom prst="roundRect">
            <a:avLst>
              <a:gd name="adj" fmla="val 275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2" name="Shape 9"/>
          <p:cNvSpPr/>
          <p:nvPr/>
        </p:nvSpPr>
        <p:spPr>
          <a:xfrm>
            <a:off x="4526280" y="3886200"/>
            <a:ext cx="457200" cy="457200"/>
          </a:xfrm>
          <a:prstGeom prst="ellipse">
            <a:avLst/>
          </a:prstGeom>
          <a:solidFill>
            <a:srgbClr val="0F5C54"/>
          </a:solidFill>
          <a:ln w="12700">
            <a:solidFill>
              <a:srgbClr val="0F5C54"/>
            </a:solidFill>
            <a:prstDash val="solid"/>
          </a:ln>
        </p:spPr>
      </p:sp>
      <p:sp>
        <p:nvSpPr>
          <p:cNvPr id="13" name="Text 10"/>
          <p:cNvSpPr txBox="1"/>
          <p:nvPr/>
        </p:nvSpPr>
        <p:spPr>
          <a:xfrm>
            <a:off x="452628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5166360" y="3931920"/>
            <a:ext cx="246888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Plan &amp; execute</a:t>
            </a:r>
            <a:endParaRPr lang="en-US" sz="1800" dirty="0"/>
          </a:p>
        </p:txBody>
      </p:sp>
      <p:sp>
        <p:nvSpPr>
          <p:cNvPr id="15" name="Text 12"/>
          <p:cNvSpPr txBox="1"/>
          <p:nvPr/>
        </p:nvSpPr>
        <p:spPr>
          <a:xfrm>
            <a:off x="4526280" y="4572000"/>
            <a:ext cx="3108960" cy="1645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Intent templates merged into a dependency DAG; agents run level by level, posting to a shared blackboard and exchanging INFORM / REQUEST / PROPOSE / REFUSE messages.</a:t>
            </a:r>
            <a:endParaRPr lang="en-US" sz="1300" dirty="0"/>
          </a:p>
        </p:txBody>
      </p:sp>
      <p:sp>
        <p:nvSpPr>
          <p:cNvPr id="16" name="Shape 13"/>
          <p:cNvSpPr/>
          <p:nvPr/>
        </p:nvSpPr>
        <p:spPr>
          <a:xfrm>
            <a:off x="8046720" y="3657600"/>
            <a:ext cx="3520440" cy="2651760"/>
          </a:xfrm>
          <a:prstGeom prst="roundRect">
            <a:avLst>
              <a:gd name="adj" fmla="val 275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7" name="Shape 14"/>
          <p:cNvSpPr/>
          <p:nvPr/>
        </p:nvSpPr>
        <p:spPr>
          <a:xfrm>
            <a:off x="8275320" y="3886200"/>
            <a:ext cx="457200" cy="457200"/>
          </a:xfrm>
          <a:prstGeom prst="ellipse">
            <a:avLst/>
          </a:prstGeom>
          <a:solidFill>
            <a:srgbClr val="0F5C54"/>
          </a:solidFill>
          <a:ln w="12700">
            <a:solidFill>
              <a:srgbClr val="0F5C54"/>
            </a:solidFill>
            <a:prstDash val="solid"/>
          </a:ln>
        </p:spPr>
      </p:sp>
      <p:sp>
        <p:nvSpPr>
          <p:cNvPr id="18" name="Text 15"/>
          <p:cNvSpPr txBox="1"/>
          <p:nvPr/>
        </p:nvSpPr>
        <p:spPr>
          <a:xfrm>
            <a:off x="827532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8915400" y="3931920"/>
            <a:ext cx="246888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Resolve &amp; gate</a:t>
            </a:r>
            <a:endParaRPr lang="en-US" sz="1800" dirty="0"/>
          </a:p>
        </p:txBody>
      </p:sp>
      <p:sp>
        <p:nvSpPr>
          <p:cNvPr id="20" name="Text 17"/>
          <p:cNvSpPr txBox="1"/>
          <p:nvPr/>
        </p:nvSpPr>
        <p:spPr>
          <a:xfrm>
            <a:off x="8275320" y="4572000"/>
            <a:ext cx="3108960" cy="1645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Conflict resolver handles contention, staff overload, missing capacity and safety refusals; the autonomy policy decides what runs automatically and what needs approval.</a:t>
            </a:r>
            <a:endParaRPr lang="en-US" sz="1300" dirty="0"/>
          </a:p>
        </p:txBody>
      </p:sp>
      <p:sp>
        <p:nvSpPr>
          <p:cNvPr id="21" name="Text 18"/>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Live demo: the synopsis ICU-admission example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“Patient needs admission and requires ICU monitoring” — running in the AI Agent Console</a:t>
            </a:r>
            <a:endParaRPr lang="en-US" sz="1500" dirty="0"/>
          </a:p>
        </p:txBody>
      </p:sp>
      <p:sp>
        <p:nvSpPr>
          <p:cNvPr id="4" name="Shape 2"/>
          <p:cNvSpPr/>
          <p:nvPr/>
        </p:nvSpPr>
        <p:spPr>
          <a:xfrm>
            <a:off x="1394297" y="1417320"/>
            <a:ext cx="5075247" cy="5257800"/>
          </a:xfrm>
          <a:prstGeom prst="roundRect">
            <a:avLst>
              <a:gd name="adj" fmla="val 144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agents_icu_top.png">    </p:cNvPr>
          <p:cNvPicPr>
            <a:picLocks noChangeAspect="1"/>
          </p:cNvPicPr>
          <p:nvPr/>
        </p:nvPicPr>
        <p:blipFill>
          <a:blip r:embed="rId1"/>
          <a:stretch>
            <a:fillRect/>
          </a:stretch>
        </p:blipFill>
        <p:spPr>
          <a:xfrm>
            <a:off x="1467449" y="1490472"/>
            <a:ext cx="4928943" cy="5111496"/>
          </a:xfrm>
          <a:prstGeom prst="rect">
            <a:avLst/>
          </a:prstGeom>
        </p:spPr>
      </p:pic>
      <p:sp>
        <p:nvSpPr>
          <p:cNvPr id="6" name="Shape 3"/>
          <p:cNvSpPr/>
          <p:nvPr/>
        </p:nvSpPr>
        <p:spPr>
          <a:xfrm>
            <a:off x="7726680" y="1554480"/>
            <a:ext cx="411480" cy="411480"/>
          </a:xfrm>
          <a:prstGeom prst="ellipse">
            <a:avLst/>
          </a:prstGeom>
          <a:solidFill>
            <a:srgbClr val="0F5C54"/>
          </a:solidFill>
          <a:ln w="12700">
            <a:solidFill>
              <a:srgbClr val="0F5C54"/>
            </a:solidFill>
            <a:prstDash val="solid"/>
          </a:ln>
        </p:spPr>
      </p:sp>
      <p:sp>
        <p:nvSpPr>
          <p:cNvPr id="7" name="Text 4"/>
          <p:cNvSpPr txBox="1"/>
          <p:nvPr/>
        </p:nvSpPr>
        <p:spPr>
          <a:xfrm>
            <a:off x="7726680" y="15544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8321040" y="1536192"/>
            <a:ext cx="33832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Understood</a:t>
            </a:r>
            <a:endParaRPr lang="en-US" sz="1500" dirty="0"/>
          </a:p>
        </p:txBody>
      </p:sp>
      <p:sp>
        <p:nvSpPr>
          <p:cNvPr id="9" name="Text 6"/>
          <p:cNvSpPr txBox="1"/>
          <p:nvPr/>
        </p:nvSpPr>
        <p:spPr>
          <a:xfrm>
            <a:off x="8321040" y="1856232"/>
            <a:ext cx="3383280" cy="5943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Intent admission (99%), ICU bed, ventilator + monitor</a:t>
            </a:r>
            <a:endParaRPr lang="en-US" sz="1250" dirty="0"/>
          </a:p>
        </p:txBody>
      </p:sp>
      <p:sp>
        <p:nvSpPr>
          <p:cNvPr id="10" name="Shape 7"/>
          <p:cNvSpPr/>
          <p:nvPr/>
        </p:nvSpPr>
        <p:spPr>
          <a:xfrm>
            <a:off x="7726680" y="2560320"/>
            <a:ext cx="411480" cy="411480"/>
          </a:xfrm>
          <a:prstGeom prst="ellipse">
            <a:avLst/>
          </a:prstGeom>
          <a:solidFill>
            <a:srgbClr val="0F5C54"/>
          </a:solidFill>
          <a:ln w="12700">
            <a:solidFill>
              <a:srgbClr val="0F5C54"/>
            </a:solidFill>
            <a:prstDash val="solid"/>
          </a:ln>
        </p:spPr>
      </p:sp>
      <p:sp>
        <p:nvSpPr>
          <p:cNvPr id="11" name="Text 8"/>
          <p:cNvSpPr txBox="1"/>
          <p:nvPr/>
        </p:nvSpPr>
        <p:spPr>
          <a:xfrm>
            <a:off x="7726680" y="25603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8321040" y="2542032"/>
            <a:ext cx="33832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Patient</a:t>
            </a:r>
            <a:endParaRPr lang="en-US" sz="1500" dirty="0"/>
          </a:p>
        </p:txBody>
      </p:sp>
      <p:sp>
        <p:nvSpPr>
          <p:cNvPr id="13" name="Text 10"/>
          <p:cNvSpPr txBox="1"/>
          <p:nvPr/>
        </p:nvSpPr>
        <p:spPr>
          <a:xfrm>
            <a:off x="8321040" y="2862072"/>
            <a:ext cx="3383280" cy="5943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No name given → provisional registration so care is not delayed</a:t>
            </a:r>
            <a:endParaRPr lang="en-US" sz="1250" dirty="0"/>
          </a:p>
        </p:txBody>
      </p:sp>
      <p:sp>
        <p:nvSpPr>
          <p:cNvPr id="14" name="Shape 11"/>
          <p:cNvSpPr/>
          <p:nvPr/>
        </p:nvSpPr>
        <p:spPr>
          <a:xfrm>
            <a:off x="7726680" y="3566160"/>
            <a:ext cx="411480" cy="411480"/>
          </a:xfrm>
          <a:prstGeom prst="ellipse">
            <a:avLst/>
          </a:prstGeom>
          <a:solidFill>
            <a:srgbClr val="0F5C54"/>
          </a:solidFill>
          <a:ln w="12700">
            <a:solidFill>
              <a:srgbClr val="0F5C54"/>
            </a:solidFill>
            <a:prstDash val="solid"/>
          </a:ln>
        </p:spPr>
      </p:sp>
      <p:sp>
        <p:nvSpPr>
          <p:cNvPr id="15" name="Text 12"/>
          <p:cNvSpPr txBox="1"/>
          <p:nvPr/>
        </p:nvSpPr>
        <p:spPr>
          <a:xfrm>
            <a:off x="7726680" y="356616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3"/>
          <p:cNvSpPr txBox="1"/>
          <p:nvPr/>
        </p:nvSpPr>
        <p:spPr>
          <a:xfrm>
            <a:off x="8321040" y="3547872"/>
            <a:ext cx="33832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Beds &amp; staff</a:t>
            </a:r>
            <a:endParaRPr lang="en-US" sz="1500" dirty="0"/>
          </a:p>
        </p:txBody>
      </p:sp>
      <p:sp>
        <p:nvSpPr>
          <p:cNvPr id="17" name="Text 14"/>
          <p:cNvSpPr txBox="1"/>
          <p:nvPr/>
        </p:nvSpPr>
        <p:spPr>
          <a:xfrm>
            <a:off x="8321040" y="3867912"/>
            <a:ext cx="3383280" cy="5943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Ventilator ICU bed ranked; Critical Care doctor and ICU nurse chosen</a:t>
            </a:r>
            <a:endParaRPr lang="en-US" sz="1250" dirty="0"/>
          </a:p>
        </p:txBody>
      </p:sp>
      <p:sp>
        <p:nvSpPr>
          <p:cNvPr id="18" name="Shape 15"/>
          <p:cNvSpPr/>
          <p:nvPr/>
        </p:nvSpPr>
        <p:spPr>
          <a:xfrm>
            <a:off x="7726680" y="4572000"/>
            <a:ext cx="411480" cy="411480"/>
          </a:xfrm>
          <a:prstGeom prst="ellipse">
            <a:avLst/>
          </a:prstGeom>
          <a:solidFill>
            <a:srgbClr val="0F5C54"/>
          </a:solidFill>
          <a:ln w="12700">
            <a:solidFill>
              <a:srgbClr val="0F5C54"/>
            </a:solidFill>
            <a:prstDash val="solid"/>
          </a:ln>
        </p:spPr>
      </p:sp>
      <p:sp>
        <p:nvSpPr>
          <p:cNvPr id="19" name="Text 16"/>
          <p:cNvSpPr txBox="1"/>
          <p:nvPr/>
        </p:nvSpPr>
        <p:spPr>
          <a:xfrm>
            <a:off x="7726680" y="4572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7"/>
          <p:cNvSpPr txBox="1"/>
          <p:nvPr/>
        </p:nvSpPr>
        <p:spPr>
          <a:xfrm>
            <a:off x="8321040" y="4553712"/>
            <a:ext cx="33832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Optimised</a:t>
            </a:r>
            <a:endParaRPr lang="en-US" sz="1500" dirty="0"/>
          </a:p>
        </p:txBody>
      </p:sp>
      <p:sp>
        <p:nvSpPr>
          <p:cNvPr id="21" name="Text 18"/>
          <p:cNvSpPr txBox="1"/>
          <p:nvPr/>
        </p:nvSpPr>
        <p:spPr>
          <a:xfrm>
            <a:off x="8321040" y="4873752"/>
            <a:ext cx="3383280" cy="5943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CP-SAT checks other waiting patients; ML predicts length of stay</a:t>
            </a:r>
            <a:endParaRPr lang="en-US" sz="1250" dirty="0"/>
          </a:p>
        </p:txBody>
      </p:sp>
      <p:sp>
        <p:nvSpPr>
          <p:cNvPr id="22" name="Shape 19"/>
          <p:cNvSpPr/>
          <p:nvPr/>
        </p:nvSpPr>
        <p:spPr>
          <a:xfrm>
            <a:off x="7726680" y="5577840"/>
            <a:ext cx="411480" cy="411480"/>
          </a:xfrm>
          <a:prstGeom prst="ellipse">
            <a:avLst/>
          </a:prstGeom>
          <a:solidFill>
            <a:srgbClr val="F97360"/>
          </a:solidFill>
          <a:ln w="12700">
            <a:solidFill>
              <a:srgbClr val="F97360"/>
            </a:solidFill>
            <a:prstDash val="solid"/>
          </a:ln>
        </p:spPr>
      </p:sp>
      <p:sp>
        <p:nvSpPr>
          <p:cNvPr id="23" name="Text 20"/>
          <p:cNvSpPr txBox="1"/>
          <p:nvPr/>
        </p:nvSpPr>
        <p:spPr>
          <a:xfrm>
            <a:off x="7726680" y="557784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1"/>
          <p:cNvSpPr txBox="1"/>
          <p:nvPr/>
        </p:nvSpPr>
        <p:spPr>
          <a:xfrm>
            <a:off x="8321040" y="5559552"/>
            <a:ext cx="33832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Human decides</a:t>
            </a:r>
            <a:endParaRPr lang="en-US" sz="1500" dirty="0"/>
          </a:p>
        </p:txBody>
      </p:sp>
      <p:sp>
        <p:nvSpPr>
          <p:cNvPr id="25" name="Text 22"/>
          <p:cNvSpPr txBox="1"/>
          <p:nvPr/>
        </p:nvSpPr>
        <p:spPr>
          <a:xfrm>
            <a:off x="8321040" y="5879592"/>
            <a:ext cx="3383280" cy="5943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Bed held automatically; admission waits for a doctor</a:t>
            </a:r>
            <a:endParaRPr lang="en-US" sz="1250" dirty="0"/>
          </a:p>
        </p:txBody>
      </p:sp>
      <p:sp>
        <p:nvSpPr>
          <p:cNvPr id="26" name="Text 23"/>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Humans stay in control</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Agents propose — authorised people approve, modify or reject; everything is audited</a:t>
            </a:r>
            <a:endParaRPr lang="en-US" sz="1500" dirty="0"/>
          </a:p>
        </p:txBody>
      </p:sp>
      <p:sp>
        <p:nvSpPr>
          <p:cNvPr id="4" name="Shape 2"/>
          <p:cNvSpPr/>
          <p:nvPr/>
        </p:nvSpPr>
        <p:spPr>
          <a:xfrm>
            <a:off x="861568" y="1353312"/>
            <a:ext cx="2665984" cy="5340096"/>
          </a:xfrm>
          <a:prstGeom prst="roundRect">
            <a:avLst>
              <a:gd name="adj" fmla="val 2744"/>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fig_hitl.png">    </p:cNvPr>
          <p:cNvPicPr>
            <a:picLocks noChangeAspect="1"/>
          </p:cNvPicPr>
          <p:nvPr/>
        </p:nvPicPr>
        <p:blipFill>
          <a:blip r:embed="rId1"/>
          <a:stretch>
            <a:fillRect/>
          </a:stretch>
        </p:blipFill>
        <p:spPr>
          <a:xfrm>
            <a:off x="971296" y="1463040"/>
            <a:ext cx="2446528" cy="5120640"/>
          </a:xfrm>
          <a:prstGeom prst="rect">
            <a:avLst/>
          </a:prstGeom>
        </p:spPr>
      </p:pic>
      <p:sp>
        <p:nvSpPr>
          <p:cNvPr id="6" name="Shape 3"/>
          <p:cNvSpPr/>
          <p:nvPr/>
        </p:nvSpPr>
        <p:spPr>
          <a:xfrm>
            <a:off x="4297680" y="1600200"/>
            <a:ext cx="2331720" cy="2194560"/>
          </a:xfrm>
          <a:prstGeom prst="roundRect">
            <a:avLst>
              <a:gd name="adj" fmla="val 3333"/>
            </a:avLst>
          </a:prstGeom>
          <a:solidFill>
            <a:srgbClr val="E2E8F0"/>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7" name="Text 4"/>
          <p:cNvSpPr txBox="1"/>
          <p:nvPr/>
        </p:nvSpPr>
        <p:spPr>
          <a:xfrm>
            <a:off x="4480560" y="1783080"/>
            <a:ext cx="2011680" cy="365760"/>
          </a:xfrm>
          <a:prstGeom prst="rect">
            <a:avLst/>
          </a:prstGeom>
          <a:noFill/>
          <a:ln/>
        </p:spPr>
        <p:txBody>
          <a:bodyPr wrap="square" lIns="0" tIns="0" rIns="0" bIns="0" rtlCol="0" anchor="t"/>
          <a:lstStyle/>
          <a:p>
            <a:pPr indent="0" marL="0">
              <a:buNone/>
            </a:pPr>
            <a:r>
              <a:rPr lang="en-US" sz="1500" b="1" dirty="0">
                <a:solidFill>
                  <a:srgbClr val="0F5C54"/>
                </a:solidFill>
                <a:latin typeface="Calibri" pitchFamily="34" charset="0"/>
                <a:ea typeface="Calibri" pitchFamily="34" charset="-122"/>
                <a:cs typeface="Calibri" pitchFamily="34" charset="-120"/>
              </a:rPr>
              <a:t>Supervised</a:t>
            </a:r>
            <a:endParaRPr lang="en-US" sz="1500" dirty="0"/>
          </a:p>
        </p:txBody>
      </p:sp>
      <p:sp>
        <p:nvSpPr>
          <p:cNvPr id="8" name="Text 5"/>
          <p:cNvSpPr txBox="1"/>
          <p:nvPr/>
        </p:nvSpPr>
        <p:spPr>
          <a:xfrm>
            <a:off x="4480560" y="2240280"/>
            <a:ext cx="2011680" cy="14630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Every action waits for approval</a:t>
            </a:r>
            <a:endParaRPr lang="en-US" sz="1200" dirty="0"/>
          </a:p>
        </p:txBody>
      </p:sp>
      <p:sp>
        <p:nvSpPr>
          <p:cNvPr id="9" name="Shape 6"/>
          <p:cNvSpPr/>
          <p:nvPr/>
        </p:nvSpPr>
        <p:spPr>
          <a:xfrm>
            <a:off x="6812280" y="1600200"/>
            <a:ext cx="2331720" cy="2194560"/>
          </a:xfrm>
          <a:prstGeom prst="roundRect">
            <a:avLst>
              <a:gd name="adj" fmla="val 3333"/>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6995160" y="1783080"/>
            <a:ext cx="2011680" cy="365760"/>
          </a:xfrm>
          <a:prstGeom prst="rect">
            <a:avLst/>
          </a:prstGeom>
          <a:noFill/>
          <a:ln/>
        </p:spPr>
        <p:txBody>
          <a:bodyPr wrap="square" lIns="0" tIns="0" rIns="0" bIns="0" rtlCol="0" anchor="t"/>
          <a:lstStyle/>
          <a:p>
            <a:pPr indent="0" marL="0">
              <a:buNone/>
            </a:pPr>
            <a:r>
              <a:rPr lang="en-US" sz="1500" b="1" dirty="0">
                <a:solidFill>
                  <a:srgbClr val="0F5C54"/>
                </a:solidFill>
                <a:latin typeface="Calibri" pitchFamily="34" charset="0"/>
                <a:ea typeface="Calibri" pitchFamily="34" charset="-122"/>
                <a:cs typeface="Calibri" pitchFamily="34" charset="-120"/>
              </a:rPr>
              <a:t>Balanced (default)</a:t>
            </a:r>
            <a:endParaRPr lang="en-US" sz="1500" dirty="0"/>
          </a:p>
        </p:txBody>
      </p:sp>
      <p:sp>
        <p:nvSpPr>
          <p:cNvPr id="11" name="Text 8"/>
          <p:cNvSpPr txBox="1"/>
          <p:nvPr/>
        </p:nvSpPr>
        <p:spPr>
          <a:xfrm>
            <a:off x="6995160" y="2240280"/>
            <a:ext cx="2011680" cy="14630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Low-risk reversible actions run automatically; clinical and risky actions need approval</a:t>
            </a:r>
            <a:endParaRPr lang="en-US" sz="1200" dirty="0"/>
          </a:p>
        </p:txBody>
      </p:sp>
      <p:sp>
        <p:nvSpPr>
          <p:cNvPr id="12" name="Shape 9"/>
          <p:cNvSpPr/>
          <p:nvPr/>
        </p:nvSpPr>
        <p:spPr>
          <a:xfrm>
            <a:off x="9326880" y="1600200"/>
            <a:ext cx="2331720" cy="2194560"/>
          </a:xfrm>
          <a:prstGeom prst="roundRect">
            <a:avLst>
              <a:gd name="adj" fmla="val 3333"/>
            </a:avLst>
          </a:prstGeom>
          <a:solidFill>
            <a:srgbClr val="E2E8F0"/>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3" name="Text 10"/>
          <p:cNvSpPr txBox="1"/>
          <p:nvPr/>
        </p:nvSpPr>
        <p:spPr>
          <a:xfrm>
            <a:off x="9509760" y="1783080"/>
            <a:ext cx="2011680" cy="365760"/>
          </a:xfrm>
          <a:prstGeom prst="rect">
            <a:avLst/>
          </a:prstGeom>
          <a:noFill/>
          <a:ln/>
        </p:spPr>
        <p:txBody>
          <a:bodyPr wrap="square" lIns="0" tIns="0" rIns="0" bIns="0" rtlCol="0" anchor="t"/>
          <a:lstStyle/>
          <a:p>
            <a:pPr indent="0" marL="0">
              <a:buNone/>
            </a:pPr>
            <a:r>
              <a:rPr lang="en-US" sz="1500" b="1" dirty="0">
                <a:solidFill>
                  <a:srgbClr val="0F5C54"/>
                </a:solidFill>
                <a:latin typeface="Calibri" pitchFamily="34" charset="0"/>
                <a:ea typeface="Calibri" pitchFamily="34" charset="-122"/>
                <a:cs typeface="Calibri" pitchFamily="34" charset="-120"/>
              </a:rPr>
              <a:t>Autonomous</a:t>
            </a:r>
            <a:endParaRPr lang="en-US" sz="1500" dirty="0"/>
          </a:p>
        </p:txBody>
      </p:sp>
      <p:sp>
        <p:nvSpPr>
          <p:cNvPr id="14" name="Text 11"/>
          <p:cNvSpPr txBox="1"/>
          <p:nvPr/>
        </p:nvSpPr>
        <p:spPr>
          <a:xfrm>
            <a:off x="9509760" y="2240280"/>
            <a:ext cx="2011680" cy="14630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Low/medium operational actions run automatically; high-risk, prescribing, discharge and staffing still need approval</a:t>
            </a:r>
            <a:endParaRPr lang="en-US" sz="1200" dirty="0"/>
          </a:p>
        </p:txBody>
      </p:sp>
      <p:sp>
        <p:nvSpPr>
          <p:cNvPr id="15" name="Shape 12"/>
          <p:cNvSpPr/>
          <p:nvPr/>
        </p:nvSpPr>
        <p:spPr>
          <a:xfrm>
            <a:off x="6287913" y="4023360"/>
            <a:ext cx="3426174" cy="2651760"/>
          </a:xfrm>
          <a:prstGeom prst="roundRect">
            <a:avLst>
              <a:gd name="adj" fmla="val 275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16" name="Image 1" descr="C:\Users\HP\AppData\Local\Temp\claude\D--codin-idea-lab\87151ddf-948a-4e83-8159-c0449757400e\scratchpad\report\shots\approvals.png">    </p:cNvPr>
          <p:cNvPicPr>
            <a:picLocks noChangeAspect="1"/>
          </p:cNvPicPr>
          <p:nvPr/>
        </p:nvPicPr>
        <p:blipFill>
          <a:blip r:embed="rId2"/>
          <a:stretch>
            <a:fillRect/>
          </a:stretch>
        </p:blipFill>
        <p:spPr>
          <a:xfrm>
            <a:off x="6361065" y="4096512"/>
            <a:ext cx="3279870" cy="2505456"/>
          </a:xfrm>
          <a:prstGeom prst="rect">
            <a:avLst/>
          </a:prstGeom>
        </p:spPr>
      </p:pic>
      <p:sp>
        <p:nvSpPr>
          <p:cNvPr id="17" name="Text 13"/>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Real algorithms inside the agents</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Transparent, validated methods — not a black box</a:t>
            </a:r>
            <a:endParaRPr lang="en-US" sz="1500" dirty="0"/>
          </a:p>
        </p:txBody>
      </p:sp>
      <p:sp>
        <p:nvSpPr>
          <p:cNvPr id="4" name="Shape 2"/>
          <p:cNvSpPr/>
          <p:nvPr/>
        </p:nvSpPr>
        <p:spPr>
          <a:xfrm>
            <a:off x="548640" y="1600200"/>
            <a:ext cx="3520440" cy="2286000"/>
          </a:xfrm>
          <a:prstGeom prst="roundRect">
            <a:avLst>
              <a:gd name="adj" fmla="val 3200"/>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5" name="Shape 3"/>
          <p:cNvSpPr/>
          <p:nvPr/>
        </p:nvSpPr>
        <p:spPr>
          <a:xfrm>
            <a:off x="777240" y="1828800"/>
            <a:ext cx="457200" cy="457200"/>
          </a:xfrm>
          <a:prstGeom prst="ellipse">
            <a:avLst/>
          </a:prstGeom>
          <a:solidFill>
            <a:srgbClr val="0F5C54"/>
          </a:solidFill>
          <a:ln w="12700">
            <a:solidFill>
              <a:srgbClr val="0F5C54"/>
            </a:solidFill>
            <a:prstDash val="solid"/>
          </a:ln>
        </p:spPr>
      </p:sp>
      <p:sp>
        <p:nvSpPr>
          <p:cNvPr id="6"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1874520"/>
            <a:ext cx="256032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OR-Tools CP-SAT</a:t>
            </a:r>
            <a:endParaRPr lang="en-US" sz="1800" dirty="0"/>
          </a:p>
        </p:txBody>
      </p:sp>
      <p:sp>
        <p:nvSpPr>
          <p:cNvPr id="8" name="Text 6"/>
          <p:cNvSpPr txBox="1"/>
          <p:nvPr/>
        </p:nvSpPr>
        <p:spPr>
          <a:xfrm>
            <a:off x="777240" y="2514600"/>
            <a:ext cx="3063240" cy="12801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Bed allocation, weekly rosters and theatre scheduling with hard constraints and weighted objectives</a:t>
            </a:r>
            <a:endParaRPr lang="en-US" sz="1350" dirty="0"/>
          </a:p>
        </p:txBody>
      </p:sp>
      <p:sp>
        <p:nvSpPr>
          <p:cNvPr id="9" name="Shape 7"/>
          <p:cNvSpPr/>
          <p:nvPr/>
        </p:nvSpPr>
        <p:spPr>
          <a:xfrm>
            <a:off x="4297680" y="1600200"/>
            <a:ext cx="3520440"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0" name="Shape 8"/>
          <p:cNvSpPr/>
          <p:nvPr/>
        </p:nvSpPr>
        <p:spPr>
          <a:xfrm>
            <a:off x="4526280" y="1828800"/>
            <a:ext cx="457200" cy="457200"/>
          </a:xfrm>
          <a:prstGeom prst="ellipse">
            <a:avLst/>
          </a:prstGeom>
          <a:solidFill>
            <a:srgbClr val="0F5C54"/>
          </a:solidFill>
          <a:ln w="12700">
            <a:solidFill>
              <a:srgbClr val="0F5C54"/>
            </a:solidFill>
            <a:prstDash val="solid"/>
          </a:ln>
        </p:spPr>
      </p:sp>
      <p:sp>
        <p:nvSpPr>
          <p:cNvPr id="11" name="Text 9"/>
          <p:cNvSpPr txBox="1"/>
          <p:nvPr/>
        </p:nvSpPr>
        <p:spPr>
          <a:xfrm>
            <a:off x="452628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5166360" y="1874520"/>
            <a:ext cx="256032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NEWS2 (RCP 2017)</a:t>
            </a:r>
            <a:endParaRPr lang="en-US" sz="1800" dirty="0"/>
          </a:p>
        </p:txBody>
      </p:sp>
      <p:sp>
        <p:nvSpPr>
          <p:cNvPr id="13" name="Text 11"/>
          <p:cNvSpPr txBox="1"/>
          <p:nvPr/>
        </p:nvSpPr>
        <p:spPr>
          <a:xfrm>
            <a:off x="4526280" y="2514600"/>
            <a:ext cx="3063240" cy="12801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Early-warning score for ER triage and ward deterioration with the official response policy</a:t>
            </a:r>
            <a:endParaRPr lang="en-US" sz="1350" dirty="0"/>
          </a:p>
        </p:txBody>
      </p:sp>
      <p:sp>
        <p:nvSpPr>
          <p:cNvPr id="14" name="Shape 12"/>
          <p:cNvSpPr/>
          <p:nvPr/>
        </p:nvSpPr>
        <p:spPr>
          <a:xfrm>
            <a:off x="8046720" y="1600200"/>
            <a:ext cx="3520440"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5" name="Shape 13"/>
          <p:cNvSpPr/>
          <p:nvPr/>
        </p:nvSpPr>
        <p:spPr>
          <a:xfrm>
            <a:off x="8275320" y="1828800"/>
            <a:ext cx="457200" cy="457200"/>
          </a:xfrm>
          <a:prstGeom prst="ellipse">
            <a:avLst/>
          </a:prstGeom>
          <a:solidFill>
            <a:srgbClr val="0F5C54"/>
          </a:solidFill>
          <a:ln w="12700">
            <a:solidFill>
              <a:srgbClr val="0F5C54"/>
            </a:solidFill>
            <a:prstDash val="solid"/>
          </a:ln>
        </p:spPr>
      </p:sp>
      <p:sp>
        <p:nvSpPr>
          <p:cNvPr id="16" name="Text 14"/>
          <p:cNvSpPr txBox="1"/>
          <p:nvPr/>
        </p:nvSpPr>
        <p:spPr>
          <a:xfrm>
            <a:off x="827532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8915400" y="1874520"/>
            <a:ext cx="256032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M/M/c queueing</a:t>
            </a:r>
            <a:endParaRPr lang="en-US" sz="1800" dirty="0"/>
          </a:p>
        </p:txBody>
      </p:sp>
      <p:sp>
        <p:nvSpPr>
          <p:cNvPr id="18" name="Text 16"/>
          <p:cNvSpPr txBox="1"/>
          <p:nvPr/>
        </p:nvSpPr>
        <p:spPr>
          <a:xfrm>
            <a:off x="8275320" y="2514600"/>
            <a:ext cx="3063240" cy="12801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Erlang-C waiting-time prediction; dynamic priority queue with ageing</a:t>
            </a:r>
            <a:endParaRPr lang="en-US" sz="1350" dirty="0"/>
          </a:p>
        </p:txBody>
      </p:sp>
      <p:sp>
        <p:nvSpPr>
          <p:cNvPr id="19" name="Shape 17"/>
          <p:cNvSpPr/>
          <p:nvPr/>
        </p:nvSpPr>
        <p:spPr>
          <a:xfrm>
            <a:off x="548640" y="4114800"/>
            <a:ext cx="3520440"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0" name="Shape 18"/>
          <p:cNvSpPr/>
          <p:nvPr/>
        </p:nvSpPr>
        <p:spPr>
          <a:xfrm>
            <a:off x="777240" y="4343400"/>
            <a:ext cx="457200" cy="457200"/>
          </a:xfrm>
          <a:prstGeom prst="ellipse">
            <a:avLst/>
          </a:prstGeom>
          <a:solidFill>
            <a:srgbClr val="0F5C54"/>
          </a:solidFill>
          <a:ln w="12700">
            <a:solidFill>
              <a:srgbClr val="0F5C54"/>
            </a:solidFill>
            <a:prstDash val="solid"/>
          </a:ln>
        </p:spPr>
      </p:sp>
      <p:sp>
        <p:nvSpPr>
          <p:cNvPr id="21" name="Text 19"/>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1417320" y="4389120"/>
            <a:ext cx="256032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Holt-Winters</a:t>
            </a:r>
            <a:endParaRPr lang="en-US" sz="1800" dirty="0"/>
          </a:p>
        </p:txBody>
      </p:sp>
      <p:sp>
        <p:nvSpPr>
          <p:cNvPr id="23" name="Text 21"/>
          <p:cNvSpPr txBox="1"/>
          <p:nvPr/>
        </p:nvSpPr>
        <p:spPr>
          <a:xfrm>
            <a:off x="777240" y="5029200"/>
            <a:ext cx="3063240" cy="12801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Weekly-seasonal demand forecasting with 95% prediction intervals</a:t>
            </a:r>
            <a:endParaRPr lang="en-US" sz="1350" dirty="0"/>
          </a:p>
        </p:txBody>
      </p:sp>
      <p:sp>
        <p:nvSpPr>
          <p:cNvPr id="24" name="Shape 22"/>
          <p:cNvSpPr/>
          <p:nvPr/>
        </p:nvSpPr>
        <p:spPr>
          <a:xfrm>
            <a:off x="4297680" y="4114800"/>
            <a:ext cx="3520440"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5" name="Shape 23"/>
          <p:cNvSpPr/>
          <p:nvPr/>
        </p:nvSpPr>
        <p:spPr>
          <a:xfrm>
            <a:off x="4526280" y="4343400"/>
            <a:ext cx="457200" cy="457200"/>
          </a:xfrm>
          <a:prstGeom prst="ellipse">
            <a:avLst/>
          </a:prstGeom>
          <a:solidFill>
            <a:srgbClr val="0F5C54"/>
          </a:solidFill>
          <a:ln w="12700">
            <a:solidFill>
              <a:srgbClr val="0F5C54"/>
            </a:solidFill>
            <a:prstDash val="solid"/>
          </a:ln>
        </p:spPr>
      </p:sp>
      <p:sp>
        <p:nvSpPr>
          <p:cNvPr id="26" name="Text 24"/>
          <p:cNvSpPr txBox="1"/>
          <p:nvPr/>
        </p:nvSpPr>
        <p:spPr>
          <a:xfrm>
            <a:off x="4526280" y="4343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5166360" y="4389120"/>
            <a:ext cx="256032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Gradient Boosting</a:t>
            </a:r>
            <a:endParaRPr lang="en-US" sz="1800" dirty="0"/>
          </a:p>
        </p:txBody>
      </p:sp>
      <p:sp>
        <p:nvSpPr>
          <p:cNvPr id="28" name="Text 26"/>
          <p:cNvSpPr txBox="1"/>
          <p:nvPr/>
        </p:nvSpPr>
        <p:spPr>
          <a:xfrm>
            <a:off x="4526280" y="5029200"/>
            <a:ext cx="3063240" cy="12801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Length-of-stay prediction with 80% quantile intervals for discharge planning</a:t>
            </a:r>
            <a:endParaRPr lang="en-US" sz="1350" dirty="0"/>
          </a:p>
        </p:txBody>
      </p:sp>
      <p:sp>
        <p:nvSpPr>
          <p:cNvPr id="29" name="Shape 27"/>
          <p:cNvSpPr/>
          <p:nvPr/>
        </p:nvSpPr>
        <p:spPr>
          <a:xfrm>
            <a:off x="8046720" y="4114800"/>
            <a:ext cx="3520440"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30" name="Shape 28"/>
          <p:cNvSpPr/>
          <p:nvPr/>
        </p:nvSpPr>
        <p:spPr>
          <a:xfrm>
            <a:off x="8275320" y="4343400"/>
            <a:ext cx="457200" cy="457200"/>
          </a:xfrm>
          <a:prstGeom prst="ellipse">
            <a:avLst/>
          </a:prstGeom>
          <a:solidFill>
            <a:srgbClr val="0F5C54"/>
          </a:solidFill>
          <a:ln w="12700">
            <a:solidFill>
              <a:srgbClr val="0F5C54"/>
            </a:solidFill>
            <a:prstDash val="solid"/>
          </a:ln>
        </p:spPr>
      </p:sp>
      <p:sp>
        <p:nvSpPr>
          <p:cNvPr id="31" name="Text 29"/>
          <p:cNvSpPr txBox="1"/>
          <p:nvPr/>
        </p:nvSpPr>
        <p:spPr>
          <a:xfrm>
            <a:off x="8275320" y="4343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8915400" y="4389120"/>
            <a:ext cx="256032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NLP</a:t>
            </a:r>
            <a:endParaRPr lang="en-US" sz="1800" dirty="0"/>
          </a:p>
        </p:txBody>
      </p:sp>
      <p:sp>
        <p:nvSpPr>
          <p:cNvPr id="33" name="Text 31"/>
          <p:cNvSpPr txBox="1"/>
          <p:nvPr/>
        </p:nvSpPr>
        <p:spPr>
          <a:xfrm>
            <a:off x="8275320" y="5029200"/>
            <a:ext cx="3063240" cy="128016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TF-IDF + logistic regression over 14 intents, Hinglish normalisation; optional Claude with JSON-schema output</a:t>
            </a:r>
            <a:endParaRPr lang="en-US" sz="1350" dirty="0"/>
          </a:p>
        </p:txBody>
      </p:sp>
      <p:sp>
        <p:nvSpPr>
          <p:cNvPr id="34" name="Text 32"/>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Emergency and ward early warning</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NEWS2 on every assessment — escalation reaches the right people and the agents automatically</a:t>
            </a:r>
            <a:endParaRPr lang="en-US" sz="1500" dirty="0"/>
          </a:p>
        </p:txBody>
      </p:sp>
      <p:sp>
        <p:nvSpPr>
          <p:cNvPr id="4" name="Shape 2"/>
          <p:cNvSpPr/>
          <p:nvPr/>
        </p:nvSpPr>
        <p:spPr>
          <a:xfrm>
            <a:off x="615574" y="1463040"/>
            <a:ext cx="5992612" cy="4206240"/>
          </a:xfrm>
          <a:prstGeom prst="roundRect">
            <a:avLst>
              <a:gd name="adj" fmla="val 173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emergency.png">    </p:cNvPr>
          <p:cNvPicPr>
            <a:picLocks noChangeAspect="1"/>
          </p:cNvPicPr>
          <p:nvPr/>
        </p:nvPicPr>
        <p:blipFill>
          <a:blip r:embed="rId1"/>
          <a:stretch>
            <a:fillRect/>
          </a:stretch>
        </p:blipFill>
        <p:spPr>
          <a:xfrm>
            <a:off x="688726" y="1536192"/>
            <a:ext cx="5846308" cy="4059936"/>
          </a:xfrm>
          <a:prstGeom prst="rect">
            <a:avLst/>
          </a:prstGeom>
        </p:spPr>
      </p:pic>
      <p:sp>
        <p:nvSpPr>
          <p:cNvPr id="6" name="Shape 3"/>
          <p:cNvSpPr/>
          <p:nvPr/>
        </p:nvSpPr>
        <p:spPr>
          <a:xfrm>
            <a:off x="6931152" y="1872523"/>
            <a:ext cx="4882896" cy="1467034"/>
          </a:xfrm>
          <a:prstGeom prst="roundRect">
            <a:avLst>
              <a:gd name="adj" fmla="val 4986"/>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7" name="Image 1" descr="C:\Users\HP\AppData\Local\Temp\claude\D--codin-idea-lab\87151ddf-948a-4e83-8159-c0449757400e\scratchpad\report\fig_escalation.png">    </p:cNvPr>
          <p:cNvPicPr>
            <a:picLocks noChangeAspect="1"/>
          </p:cNvPicPr>
          <p:nvPr/>
        </p:nvPicPr>
        <p:blipFill>
          <a:blip r:embed="rId2"/>
          <a:stretch>
            <a:fillRect/>
          </a:stretch>
        </p:blipFill>
        <p:spPr>
          <a:xfrm>
            <a:off x="7040880" y="1982251"/>
            <a:ext cx="4663440" cy="1247578"/>
          </a:xfrm>
          <a:prstGeom prst="rect">
            <a:avLst/>
          </a:prstGeom>
        </p:spPr>
      </p:pic>
      <p:sp>
        <p:nvSpPr>
          <p:cNvPr id="8" name="Text 4"/>
          <p:cNvSpPr txBox="1"/>
          <p:nvPr/>
        </p:nvSpPr>
        <p:spPr>
          <a:xfrm>
            <a:off x="7132320" y="3977640"/>
            <a:ext cx="4572000" cy="23774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Live NEWS2 preview while vitals are entered</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Level-1 cases get a resuscitation bay, ED team and specialist consult</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Ward NEWS2 ≥ 7 → emergency alert + automatic ICU-transfer proposal</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Rejecting an assignment releases the held bed</a:t>
            </a:r>
            <a:endParaRPr lang="en-US" sz="1500" dirty="0"/>
          </a:p>
        </p:txBody>
      </p:sp>
      <p:sp>
        <p:nvSpPr>
          <p:cNvPr id="9" name="Text 5"/>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Operation theatres and resources</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CP-SAT re-plans a day’s theatre list without overlaps or overtime</a:t>
            </a:r>
            <a:endParaRPr lang="en-US" sz="1500" dirty="0"/>
          </a:p>
        </p:txBody>
      </p:sp>
      <p:sp>
        <p:nvSpPr>
          <p:cNvPr id="4" name="Shape 2"/>
          <p:cNvSpPr/>
          <p:nvPr/>
        </p:nvSpPr>
        <p:spPr>
          <a:xfrm>
            <a:off x="1259248" y="1463040"/>
            <a:ext cx="5802544" cy="4663440"/>
          </a:xfrm>
          <a:prstGeom prst="roundRect">
            <a:avLst>
              <a:gd name="adj" fmla="val 156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theatres.png">    </p:cNvPr>
          <p:cNvPicPr>
            <a:picLocks noChangeAspect="1"/>
          </p:cNvPicPr>
          <p:nvPr/>
        </p:nvPicPr>
        <p:blipFill>
          <a:blip r:embed="rId1"/>
          <a:stretch>
            <a:fillRect/>
          </a:stretch>
        </p:blipFill>
        <p:spPr>
          <a:xfrm>
            <a:off x="1332400" y="1536192"/>
            <a:ext cx="5656240" cy="4517136"/>
          </a:xfrm>
          <a:prstGeom prst="rect">
            <a:avLst/>
          </a:prstGeom>
        </p:spPr>
      </p:pic>
      <p:sp>
        <p:nvSpPr>
          <p:cNvPr id="6" name="Shape 3"/>
          <p:cNvSpPr/>
          <p:nvPr/>
        </p:nvSpPr>
        <p:spPr>
          <a:xfrm>
            <a:off x="8183880" y="1508760"/>
            <a:ext cx="3520440" cy="1024128"/>
          </a:xfrm>
          <a:prstGeom prst="roundRect">
            <a:avLst>
              <a:gd name="adj" fmla="val 7143"/>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7" name="Text 4"/>
          <p:cNvSpPr txBox="1"/>
          <p:nvPr/>
        </p:nvSpPr>
        <p:spPr>
          <a:xfrm>
            <a:off x="8366760" y="1600200"/>
            <a:ext cx="3200400" cy="548640"/>
          </a:xfrm>
          <a:prstGeom prst="rect">
            <a:avLst/>
          </a:prstGeom>
          <a:noFill/>
          <a:ln/>
        </p:spPr>
        <p:txBody>
          <a:bodyPr wrap="square" lIns="0" tIns="0" rIns="0" bIns="0" rtlCol="0" anchor="t"/>
          <a:lstStyle/>
          <a:p>
            <a:pPr indent="0" marL="0">
              <a:buNone/>
            </a:pPr>
            <a:r>
              <a:rPr lang="en-US" sz="2800" b="1" dirty="0">
                <a:solidFill>
                  <a:srgbClr val="0F5C54"/>
                </a:solidFill>
                <a:latin typeface="Cambria" pitchFamily="34" charset="0"/>
                <a:ea typeface="Cambria" pitchFamily="34" charset="-122"/>
                <a:cs typeface="Cambria" pitchFamily="34" charset="-120"/>
              </a:rPr>
              <a:t>75→0</a:t>
            </a:r>
            <a:endParaRPr lang="en-US" sz="2800" dirty="0"/>
          </a:p>
        </p:txBody>
      </p:sp>
      <p:sp>
        <p:nvSpPr>
          <p:cNvPr id="8" name="Text 5"/>
          <p:cNvSpPr txBox="1"/>
          <p:nvPr/>
        </p:nvSpPr>
        <p:spPr>
          <a:xfrm>
            <a:off x="8366760" y="2148840"/>
            <a:ext cx="320040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minutes of overtime</a:t>
            </a:r>
            <a:endParaRPr lang="en-US" sz="1250" dirty="0"/>
          </a:p>
        </p:txBody>
      </p:sp>
      <p:sp>
        <p:nvSpPr>
          <p:cNvPr id="9" name="Shape 6"/>
          <p:cNvSpPr/>
          <p:nvPr/>
        </p:nvSpPr>
        <p:spPr>
          <a:xfrm>
            <a:off x="8183880" y="2697480"/>
            <a:ext cx="3520440" cy="1024128"/>
          </a:xfrm>
          <a:prstGeom prst="roundRect">
            <a:avLst>
              <a:gd name="adj" fmla="val 7143"/>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8366760" y="2788920"/>
            <a:ext cx="3200400" cy="548640"/>
          </a:xfrm>
          <a:prstGeom prst="rect">
            <a:avLst/>
          </a:prstGeom>
          <a:noFill/>
          <a:ln/>
        </p:spPr>
        <p:txBody>
          <a:bodyPr wrap="square" lIns="0" tIns="0" rIns="0" bIns="0" rtlCol="0" anchor="t"/>
          <a:lstStyle/>
          <a:p>
            <a:pPr indent="0" marL="0">
              <a:buNone/>
            </a:pPr>
            <a:r>
              <a:rPr lang="en-US" sz="2800" b="1" dirty="0">
                <a:solidFill>
                  <a:srgbClr val="0F5C54"/>
                </a:solidFill>
                <a:latin typeface="Cambria" pitchFamily="34" charset="0"/>
                <a:ea typeface="Cambria" pitchFamily="34" charset="-122"/>
                <a:cs typeface="Cambria" pitchFamily="34" charset="-120"/>
              </a:rPr>
              <a:t>1→0</a:t>
            </a:r>
            <a:endParaRPr lang="en-US" sz="2800" dirty="0"/>
          </a:p>
        </p:txBody>
      </p:sp>
      <p:sp>
        <p:nvSpPr>
          <p:cNvPr id="11" name="Text 8"/>
          <p:cNvSpPr txBox="1"/>
          <p:nvPr/>
        </p:nvSpPr>
        <p:spPr>
          <a:xfrm>
            <a:off x="8366760" y="3337560"/>
            <a:ext cx="320040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theatre overlaps</a:t>
            </a:r>
            <a:endParaRPr lang="en-US" sz="1250" dirty="0"/>
          </a:p>
        </p:txBody>
      </p:sp>
      <p:sp>
        <p:nvSpPr>
          <p:cNvPr id="12" name="Shape 9"/>
          <p:cNvSpPr/>
          <p:nvPr/>
        </p:nvSpPr>
        <p:spPr>
          <a:xfrm>
            <a:off x="8183880" y="3886200"/>
            <a:ext cx="3520440" cy="1024128"/>
          </a:xfrm>
          <a:prstGeom prst="roundRect">
            <a:avLst>
              <a:gd name="adj" fmla="val 7143"/>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3" name="Text 10"/>
          <p:cNvSpPr txBox="1"/>
          <p:nvPr/>
        </p:nvSpPr>
        <p:spPr>
          <a:xfrm>
            <a:off x="8366760" y="3977640"/>
            <a:ext cx="3200400" cy="548640"/>
          </a:xfrm>
          <a:prstGeom prst="rect">
            <a:avLst/>
          </a:prstGeom>
          <a:noFill/>
          <a:ln/>
        </p:spPr>
        <p:txBody>
          <a:bodyPr wrap="square" lIns="0" tIns="0" rIns="0" bIns="0" rtlCol="0" anchor="t"/>
          <a:lstStyle/>
          <a:p>
            <a:pPr indent="0" marL="0">
              <a:buNone/>
            </a:pPr>
            <a:r>
              <a:rPr lang="en-US" sz="2800" b="1" dirty="0">
                <a:solidFill>
                  <a:srgbClr val="0F5C54"/>
                </a:solidFill>
                <a:latin typeface="Cambria" pitchFamily="34" charset="0"/>
                <a:ea typeface="Cambria" pitchFamily="34" charset="-122"/>
                <a:cs typeface="Cambria" pitchFamily="34" charset="-120"/>
              </a:rPr>
              <a:t>20:45→11:15</a:t>
            </a:r>
            <a:endParaRPr lang="en-US" sz="2800" dirty="0"/>
          </a:p>
        </p:txBody>
      </p:sp>
      <p:sp>
        <p:nvSpPr>
          <p:cNvPr id="14" name="Text 11"/>
          <p:cNvSpPr txBox="1"/>
          <p:nvPr/>
        </p:nvSpPr>
        <p:spPr>
          <a:xfrm>
            <a:off x="8366760" y="4526280"/>
            <a:ext cx="320040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last case finishes</a:t>
            </a:r>
            <a:endParaRPr lang="en-US" sz="1250" dirty="0"/>
          </a:p>
        </p:txBody>
      </p:sp>
      <p:sp>
        <p:nvSpPr>
          <p:cNvPr id="15" name="Shape 12"/>
          <p:cNvSpPr/>
          <p:nvPr/>
        </p:nvSpPr>
        <p:spPr>
          <a:xfrm>
            <a:off x="8183880" y="5074920"/>
            <a:ext cx="3520440" cy="1024128"/>
          </a:xfrm>
          <a:prstGeom prst="roundRect">
            <a:avLst>
              <a:gd name="adj" fmla="val 7143"/>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6" name="Text 13"/>
          <p:cNvSpPr txBox="1"/>
          <p:nvPr/>
        </p:nvSpPr>
        <p:spPr>
          <a:xfrm>
            <a:off x="8366760" y="5166360"/>
            <a:ext cx="3200400" cy="548640"/>
          </a:xfrm>
          <a:prstGeom prst="rect">
            <a:avLst/>
          </a:prstGeom>
          <a:noFill/>
          <a:ln/>
        </p:spPr>
        <p:txBody>
          <a:bodyPr wrap="square" lIns="0" tIns="0" rIns="0" bIns="0" rtlCol="0" anchor="t"/>
          <a:lstStyle/>
          <a:p>
            <a:pPr indent="0" marL="0">
              <a:buNone/>
            </a:pPr>
            <a:r>
              <a:rPr lang="en-US" sz="2800" b="1" dirty="0">
                <a:solidFill>
                  <a:srgbClr val="0F5C54"/>
                </a:solidFill>
                <a:latin typeface="Cambria" pitchFamily="34" charset="0"/>
                <a:ea typeface="Cambria" pitchFamily="34" charset="-122"/>
                <a:cs typeface="Cambria" pitchFamily="34" charset="-120"/>
              </a:rPr>
              <a:t>50 ms</a:t>
            </a:r>
            <a:endParaRPr lang="en-US" sz="2800" dirty="0"/>
          </a:p>
        </p:txBody>
      </p:sp>
      <p:sp>
        <p:nvSpPr>
          <p:cNvPr id="17" name="Text 14"/>
          <p:cNvSpPr txBox="1"/>
          <p:nvPr/>
        </p:nvSpPr>
        <p:spPr>
          <a:xfrm>
            <a:off x="8366760" y="5715000"/>
            <a:ext cx="320040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CP-SAT solve time</a:t>
            </a:r>
            <a:endParaRPr lang="en-US" sz="1250" dirty="0"/>
          </a:p>
        </p:txBody>
      </p:sp>
      <p:sp>
        <p:nvSpPr>
          <p:cNvPr id="18" name="Text 15"/>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Care starts before the hospital</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108 dispatch → live tracking → ED pre-alert: the bay and the team are ready when the patient arrives</a:t>
            </a:r>
            <a:endParaRPr lang="en-US" sz="1500" dirty="0"/>
          </a:p>
        </p:txBody>
      </p:sp>
      <p:sp>
        <p:nvSpPr>
          <p:cNvPr id="4" name="Shape 2"/>
          <p:cNvSpPr/>
          <p:nvPr/>
        </p:nvSpPr>
        <p:spPr>
          <a:xfrm>
            <a:off x="584955" y="1463040"/>
            <a:ext cx="6968251" cy="5120640"/>
          </a:xfrm>
          <a:prstGeom prst="roundRect">
            <a:avLst>
              <a:gd name="adj" fmla="val 142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ambulance.png">    </p:cNvPr>
          <p:cNvPicPr>
            <a:picLocks noChangeAspect="1"/>
          </p:cNvPicPr>
          <p:nvPr/>
        </p:nvPicPr>
        <p:blipFill>
          <a:blip r:embed="rId1"/>
          <a:stretch>
            <a:fillRect/>
          </a:stretch>
        </p:blipFill>
        <p:spPr>
          <a:xfrm>
            <a:off x="658107" y="1536192"/>
            <a:ext cx="6821947" cy="4974336"/>
          </a:xfrm>
          <a:prstGeom prst="rect">
            <a:avLst/>
          </a:prstGeom>
        </p:spPr>
      </p:pic>
      <p:sp>
        <p:nvSpPr>
          <p:cNvPr id="6" name="Shape 3"/>
          <p:cNvSpPr/>
          <p:nvPr/>
        </p:nvSpPr>
        <p:spPr>
          <a:xfrm>
            <a:off x="8001000" y="1600200"/>
            <a:ext cx="411480" cy="411480"/>
          </a:xfrm>
          <a:prstGeom prst="ellipse">
            <a:avLst/>
          </a:prstGeom>
          <a:solidFill>
            <a:srgbClr val="0F5C54"/>
          </a:solidFill>
          <a:ln w="12700">
            <a:solidFill>
              <a:srgbClr val="0F5C54"/>
            </a:solidFill>
            <a:prstDash val="solid"/>
          </a:ln>
        </p:spPr>
      </p:sp>
      <p:sp>
        <p:nvSpPr>
          <p:cNvPr id="7" name="Text 4"/>
          <p:cNvSpPr txBox="1"/>
          <p:nvPr/>
        </p:nvSpPr>
        <p:spPr>
          <a:xfrm>
            <a:off x="8001000" y="16002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8595360" y="1581912"/>
            <a:ext cx="310896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Pre-triage the call</a:t>
            </a:r>
            <a:endParaRPr lang="en-US" sz="1500" dirty="0"/>
          </a:p>
        </p:txBody>
      </p:sp>
      <p:sp>
        <p:nvSpPr>
          <p:cNvPr id="9" name="Text 6"/>
          <p:cNvSpPr txBox="1"/>
          <p:nvPr/>
        </p:nvSpPr>
        <p:spPr>
          <a:xfrm>
            <a:off x="8595360" y="1901952"/>
            <a:ext cx="3108960" cy="64008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NEWS2 + red flags from the caller description and paramedic vitals</a:t>
            </a:r>
            <a:endParaRPr lang="en-US" sz="1200" dirty="0"/>
          </a:p>
        </p:txBody>
      </p:sp>
      <p:sp>
        <p:nvSpPr>
          <p:cNvPr id="10" name="Shape 7"/>
          <p:cNvSpPr/>
          <p:nvPr/>
        </p:nvSpPr>
        <p:spPr>
          <a:xfrm>
            <a:off x="8001000" y="2624328"/>
            <a:ext cx="411480" cy="411480"/>
          </a:xfrm>
          <a:prstGeom prst="ellipse">
            <a:avLst/>
          </a:prstGeom>
          <a:solidFill>
            <a:srgbClr val="0F5C54"/>
          </a:solidFill>
          <a:ln w="12700">
            <a:solidFill>
              <a:srgbClr val="0F5C54"/>
            </a:solidFill>
            <a:prstDash val="solid"/>
          </a:ln>
        </p:spPr>
      </p:sp>
      <p:sp>
        <p:nvSpPr>
          <p:cNvPr id="11" name="Text 8"/>
          <p:cNvSpPr txBox="1"/>
          <p:nvPr/>
        </p:nvSpPr>
        <p:spPr>
          <a:xfrm>
            <a:off x="8001000" y="2624328"/>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8595360" y="2606040"/>
            <a:ext cx="310896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Nearest capable unit</a:t>
            </a:r>
            <a:endParaRPr lang="en-US" sz="1500" dirty="0"/>
          </a:p>
        </p:txBody>
      </p:sp>
      <p:sp>
        <p:nvSpPr>
          <p:cNvPr id="13" name="Text 10"/>
          <p:cNvSpPr txBox="1"/>
          <p:nvPr/>
        </p:nvSpPr>
        <p:spPr>
          <a:xfrm>
            <a:off x="8595360" y="2926080"/>
            <a:ext cx="3108960" cy="64008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ETA + penalty for a BLS unit on a critical call; dispatched without an approval hold</a:t>
            </a:r>
            <a:endParaRPr lang="en-US" sz="1200" dirty="0"/>
          </a:p>
        </p:txBody>
      </p:sp>
      <p:sp>
        <p:nvSpPr>
          <p:cNvPr id="14" name="Shape 11"/>
          <p:cNvSpPr/>
          <p:nvPr/>
        </p:nvSpPr>
        <p:spPr>
          <a:xfrm>
            <a:off x="8001000" y="3648456"/>
            <a:ext cx="411480" cy="411480"/>
          </a:xfrm>
          <a:prstGeom prst="ellipse">
            <a:avLst/>
          </a:prstGeom>
          <a:solidFill>
            <a:srgbClr val="0F5C54"/>
          </a:solidFill>
          <a:ln w="12700">
            <a:solidFill>
              <a:srgbClr val="0F5C54"/>
            </a:solidFill>
            <a:prstDash val="solid"/>
          </a:ln>
        </p:spPr>
      </p:sp>
      <p:sp>
        <p:nvSpPr>
          <p:cNvPr id="15" name="Text 12"/>
          <p:cNvSpPr txBox="1"/>
          <p:nvPr/>
        </p:nvSpPr>
        <p:spPr>
          <a:xfrm>
            <a:off x="8001000" y="3648456"/>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3"/>
          <p:cNvSpPr txBox="1"/>
          <p:nvPr/>
        </p:nvSpPr>
        <p:spPr>
          <a:xfrm>
            <a:off x="8595360" y="3630168"/>
            <a:ext cx="310896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Live tracking</a:t>
            </a:r>
            <a:endParaRPr lang="en-US" sz="1500" dirty="0"/>
          </a:p>
        </p:txBody>
      </p:sp>
      <p:sp>
        <p:nvSpPr>
          <p:cNvPr id="17" name="Text 14"/>
          <p:cNvSpPr txBox="1"/>
          <p:nvPr/>
        </p:nvSpPr>
        <p:spPr>
          <a:xfrm>
            <a:off x="8595360" y="3950208"/>
            <a:ext cx="3108960" cy="64008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Positions stream to every screen over WebSockets</a:t>
            </a:r>
            <a:endParaRPr lang="en-US" sz="1200" dirty="0"/>
          </a:p>
        </p:txBody>
      </p:sp>
      <p:sp>
        <p:nvSpPr>
          <p:cNvPr id="18" name="Shape 15"/>
          <p:cNvSpPr/>
          <p:nvPr/>
        </p:nvSpPr>
        <p:spPr>
          <a:xfrm>
            <a:off x="8001000" y="4672584"/>
            <a:ext cx="411480" cy="411480"/>
          </a:xfrm>
          <a:prstGeom prst="ellipse">
            <a:avLst/>
          </a:prstGeom>
          <a:solidFill>
            <a:srgbClr val="F97360"/>
          </a:solidFill>
          <a:ln w="12700">
            <a:solidFill>
              <a:srgbClr val="F97360"/>
            </a:solidFill>
            <a:prstDash val="solid"/>
          </a:ln>
        </p:spPr>
      </p:sp>
      <p:sp>
        <p:nvSpPr>
          <p:cNvPr id="19" name="Text 16"/>
          <p:cNvSpPr txBox="1"/>
          <p:nvPr/>
        </p:nvSpPr>
        <p:spPr>
          <a:xfrm>
            <a:off x="8001000" y="4672584"/>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7"/>
          <p:cNvSpPr txBox="1"/>
          <p:nvPr/>
        </p:nvSpPr>
        <p:spPr>
          <a:xfrm>
            <a:off x="8595360" y="4654296"/>
            <a:ext cx="310896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Pre-arrival alert</a:t>
            </a:r>
            <a:endParaRPr lang="en-US" sz="1500" dirty="0"/>
          </a:p>
        </p:txBody>
      </p:sp>
      <p:sp>
        <p:nvSpPr>
          <p:cNvPr id="21" name="Text 18"/>
          <p:cNvSpPr txBox="1"/>
          <p:nvPr/>
        </p:nvSpPr>
        <p:spPr>
          <a:xfrm>
            <a:off x="8595360" y="4974336"/>
            <a:ext cx="3108960" cy="64008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Incoming ED case created in transit; agents hold a bay and a team</a:t>
            </a:r>
            <a:endParaRPr lang="en-US" sz="1200" dirty="0"/>
          </a:p>
        </p:txBody>
      </p:sp>
      <p:sp>
        <p:nvSpPr>
          <p:cNvPr id="22" name="Shape 19"/>
          <p:cNvSpPr/>
          <p:nvPr/>
        </p:nvSpPr>
        <p:spPr>
          <a:xfrm>
            <a:off x="8001000" y="5696712"/>
            <a:ext cx="411480" cy="411480"/>
          </a:xfrm>
          <a:prstGeom prst="ellipse">
            <a:avLst/>
          </a:prstGeom>
          <a:solidFill>
            <a:srgbClr val="0F5C54"/>
          </a:solidFill>
          <a:ln w="12700">
            <a:solidFill>
              <a:srgbClr val="0F5C54"/>
            </a:solidFill>
            <a:prstDash val="solid"/>
          </a:ln>
        </p:spPr>
      </p:sp>
      <p:sp>
        <p:nvSpPr>
          <p:cNvPr id="23" name="Text 20"/>
          <p:cNvSpPr txBox="1"/>
          <p:nvPr/>
        </p:nvSpPr>
        <p:spPr>
          <a:xfrm>
            <a:off x="8001000" y="5696712"/>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1"/>
          <p:cNvSpPr txBox="1"/>
          <p:nvPr/>
        </p:nvSpPr>
        <p:spPr>
          <a:xfrm>
            <a:off x="8595360" y="5678424"/>
            <a:ext cx="310896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Arrival</a:t>
            </a:r>
            <a:endParaRPr lang="en-US" sz="1500" dirty="0"/>
          </a:p>
        </p:txBody>
      </p:sp>
      <p:sp>
        <p:nvSpPr>
          <p:cNvPr id="25" name="Text 22"/>
          <p:cNvSpPr txBox="1"/>
          <p:nvPr/>
        </p:nvSpPr>
        <p:spPr>
          <a:xfrm>
            <a:off x="8595360" y="5998464"/>
            <a:ext cx="3108960" cy="64008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Straight into the reserved bay — no search, no waiting</a:t>
            </a:r>
            <a:endParaRPr lang="en-US" sz="1200" dirty="0"/>
          </a:p>
        </p:txBody>
      </p:sp>
      <p:sp>
        <p:nvSpPr>
          <p:cNvPr id="26" name="Text 23"/>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Hospital digital twin: decisions before the pressure arrives</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Monte-Carlo simulation starting from the live hospital state — and it recommends what to do</a:t>
            </a:r>
            <a:endParaRPr lang="en-US" sz="1500" dirty="0"/>
          </a:p>
        </p:txBody>
      </p:sp>
      <p:sp>
        <p:nvSpPr>
          <p:cNvPr id="4" name="Shape 2"/>
          <p:cNvSpPr/>
          <p:nvPr/>
        </p:nvSpPr>
        <p:spPr>
          <a:xfrm>
            <a:off x="1579169" y="1417320"/>
            <a:ext cx="4705502" cy="5212080"/>
          </a:xfrm>
          <a:prstGeom prst="roundRect">
            <a:avLst>
              <a:gd name="adj" fmla="val 1555"/>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twin.png">    </p:cNvPr>
          <p:cNvPicPr>
            <a:picLocks noChangeAspect="1"/>
          </p:cNvPicPr>
          <p:nvPr/>
        </p:nvPicPr>
        <p:blipFill>
          <a:blip r:embed="rId1"/>
          <a:stretch>
            <a:fillRect/>
          </a:stretch>
        </p:blipFill>
        <p:spPr>
          <a:xfrm>
            <a:off x="1652321" y="1490472"/>
            <a:ext cx="4559198" cy="5065776"/>
          </a:xfrm>
          <a:prstGeom prst="rect">
            <a:avLst/>
          </a:prstGeom>
        </p:spPr>
      </p:pic>
      <p:sp>
        <p:nvSpPr>
          <p:cNvPr id="6" name="Text 3"/>
          <p:cNvSpPr txBox="1"/>
          <p:nvPr/>
        </p:nvSpPr>
        <p:spPr>
          <a:xfrm>
            <a:off x="7635240" y="1554480"/>
            <a:ext cx="4114800" cy="365760"/>
          </a:xfrm>
          <a:prstGeom prst="rect">
            <a:avLst/>
          </a:prstGeom>
          <a:noFill/>
          <a:ln/>
        </p:spPr>
        <p:txBody>
          <a:bodyPr wrap="square" lIns="0" tIns="0" rIns="0" bIns="0" rtlCol="0" anchor="t"/>
          <a:lstStyle/>
          <a:p>
            <a:pPr indent="0" marL="0">
              <a:buNone/>
            </a:pPr>
            <a:r>
              <a:rPr lang="en-US" sz="1500" b="1" dirty="0">
                <a:solidFill>
                  <a:srgbClr val="0F5C54"/>
                </a:solidFill>
                <a:latin typeface="Calibri" pitchFamily="34" charset="0"/>
                <a:ea typeface="Calibri" pitchFamily="34" charset="-122"/>
                <a:cs typeface="Calibri" pitchFamily="34" charset="-120"/>
              </a:rPr>
              <a:t>Baseline vs +50% ED arrivals (72 h)</a:t>
            </a:r>
            <a:endParaRPr lang="en-US" sz="1500" dirty="0"/>
          </a:p>
        </p:txBody>
      </p:sp>
      <p:sp>
        <p:nvSpPr>
          <p:cNvPr id="7" name="Shape 4"/>
          <p:cNvSpPr/>
          <p:nvPr/>
        </p:nvSpPr>
        <p:spPr>
          <a:xfrm>
            <a:off x="7635240" y="2011680"/>
            <a:ext cx="4069080" cy="9144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8" name="Text 5"/>
          <p:cNvSpPr txBox="1"/>
          <p:nvPr/>
        </p:nvSpPr>
        <p:spPr>
          <a:xfrm>
            <a:off x="7818120" y="2121408"/>
            <a:ext cx="374904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ED boarding</a:t>
            </a:r>
            <a:endParaRPr lang="en-US" sz="1250" dirty="0"/>
          </a:p>
        </p:txBody>
      </p:sp>
      <p:sp>
        <p:nvSpPr>
          <p:cNvPr id="9" name="Text 6"/>
          <p:cNvSpPr txBox="1"/>
          <p:nvPr/>
        </p:nvSpPr>
        <p:spPr>
          <a:xfrm>
            <a:off x="7818120" y="2414016"/>
            <a:ext cx="3749040" cy="4114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133 → 283 patient-hours</a:t>
            </a:r>
            <a:endParaRPr lang="en-US" sz="1500" dirty="0"/>
          </a:p>
        </p:txBody>
      </p:sp>
      <p:sp>
        <p:nvSpPr>
          <p:cNvPr id="10" name="Shape 7"/>
          <p:cNvSpPr/>
          <p:nvPr/>
        </p:nvSpPr>
        <p:spPr>
          <a:xfrm>
            <a:off x="7635240" y="3063240"/>
            <a:ext cx="4069080" cy="9144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1" name="Text 8"/>
          <p:cNvSpPr txBox="1"/>
          <p:nvPr/>
        </p:nvSpPr>
        <p:spPr>
          <a:xfrm>
            <a:off x="7818120" y="3172968"/>
            <a:ext cx="374904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ED saturated</a:t>
            </a:r>
            <a:endParaRPr lang="en-US" sz="1250" dirty="0"/>
          </a:p>
        </p:txBody>
      </p:sp>
      <p:sp>
        <p:nvSpPr>
          <p:cNvPr id="12" name="Text 9"/>
          <p:cNvSpPr txBox="1"/>
          <p:nvPr/>
        </p:nvSpPr>
        <p:spPr>
          <a:xfrm>
            <a:off x="7818120" y="3465576"/>
            <a:ext cx="3749040" cy="4114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14 → 64 hours</a:t>
            </a:r>
            <a:endParaRPr lang="en-US" sz="1500" dirty="0"/>
          </a:p>
        </p:txBody>
      </p:sp>
      <p:sp>
        <p:nvSpPr>
          <p:cNvPr id="13" name="Shape 10"/>
          <p:cNvSpPr/>
          <p:nvPr/>
        </p:nvSpPr>
        <p:spPr>
          <a:xfrm>
            <a:off x="7635240" y="4114800"/>
            <a:ext cx="4069080" cy="9144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7818120" y="4224528"/>
            <a:ext cx="374904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Electives cancelled</a:t>
            </a:r>
            <a:endParaRPr lang="en-US" sz="1250" dirty="0"/>
          </a:p>
        </p:txBody>
      </p:sp>
      <p:sp>
        <p:nvSpPr>
          <p:cNvPr id="15" name="Text 12"/>
          <p:cNvSpPr txBox="1"/>
          <p:nvPr/>
        </p:nvSpPr>
        <p:spPr>
          <a:xfrm>
            <a:off x="7818120" y="4517136"/>
            <a:ext cx="3749040" cy="4114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13 → 19</a:t>
            </a:r>
            <a:endParaRPr lang="en-US" sz="1500" dirty="0"/>
          </a:p>
        </p:txBody>
      </p:sp>
      <p:sp>
        <p:nvSpPr>
          <p:cNvPr id="16" name="Shape 13"/>
          <p:cNvSpPr/>
          <p:nvPr/>
        </p:nvSpPr>
        <p:spPr>
          <a:xfrm>
            <a:off x="7635240" y="5166360"/>
            <a:ext cx="4069080" cy="914400"/>
          </a:xfrm>
          <a:prstGeom prst="roundRect">
            <a:avLst>
              <a:gd name="adj" fmla="val 8000"/>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7" name="Text 14"/>
          <p:cNvSpPr txBox="1"/>
          <p:nvPr/>
        </p:nvSpPr>
        <p:spPr>
          <a:xfrm>
            <a:off x="7818120" y="5276088"/>
            <a:ext cx="3749040" cy="2743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Best single lever</a:t>
            </a:r>
            <a:endParaRPr lang="en-US" sz="1250" dirty="0"/>
          </a:p>
        </p:txBody>
      </p:sp>
      <p:sp>
        <p:nvSpPr>
          <p:cNvPr id="18" name="Text 15"/>
          <p:cNvSpPr txBox="1"/>
          <p:nvPr/>
        </p:nvSpPr>
        <p:spPr>
          <a:xfrm>
            <a:off x="7818120" y="5568696"/>
            <a:ext cx="3749040" cy="4114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Defer elective admissions (−56% pressure)</a:t>
            </a:r>
            <a:endParaRPr lang="en-US" sz="1500" dirty="0"/>
          </a:p>
        </p:txBody>
      </p:sp>
      <p:sp>
        <p:nvSpPr>
          <p:cNvPr id="19" name="Text 16"/>
          <p:cNvSpPr txBox="1"/>
          <p:nvPr/>
        </p:nvSpPr>
        <p:spPr>
          <a:xfrm>
            <a:off x="7635240" y="6263640"/>
            <a:ext cx="4114800" cy="548640"/>
          </a:xfrm>
          <a:prstGeom prst="rect">
            <a:avLst/>
          </a:prstGeom>
          <a:noFill/>
          <a:ln/>
        </p:spPr>
        <p:txBody>
          <a:bodyPr wrap="square" lIns="0" tIns="0" rIns="0" bIns="0" rtlCol="0" anchor="t"/>
          <a:lstStyle/>
          <a:p>
            <a:pPr marL="228600" indent="-228600">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Same random streams for both runs → the difference is the scenario, not noise</a:t>
            </a:r>
            <a:endParaRPr lang="en-US" sz="1150" dirty="0"/>
          </a:p>
          <a:p>
            <a:pPr marL="228600" indent="-228600">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20 replications in 0.5 s — interactive</a:t>
            </a:r>
            <a:endParaRPr lang="en-US" sz="1150" dirty="0"/>
          </a:p>
        </p:txBody>
      </p:sp>
      <p:sp>
        <p:nvSpPr>
          <p:cNvPr id="20" name="Text 17"/>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Closing the financial loop</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Charges captured from clinical activity · PM-JAY and insurer packages · claims and clearance at discharge</a:t>
            </a:r>
            <a:endParaRPr lang="en-US" sz="1500" dirty="0"/>
          </a:p>
        </p:txBody>
      </p:sp>
      <p:sp>
        <p:nvSpPr>
          <p:cNvPr id="4" name="Shape 2"/>
          <p:cNvSpPr/>
          <p:nvPr/>
        </p:nvSpPr>
        <p:spPr>
          <a:xfrm>
            <a:off x="1176430" y="1463040"/>
            <a:ext cx="5876739" cy="5120640"/>
          </a:xfrm>
          <a:prstGeom prst="roundRect">
            <a:avLst>
              <a:gd name="adj" fmla="val 142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billing.png">    </p:cNvPr>
          <p:cNvPicPr>
            <a:picLocks noChangeAspect="1"/>
          </p:cNvPicPr>
          <p:nvPr/>
        </p:nvPicPr>
        <p:blipFill>
          <a:blip r:embed="rId1"/>
          <a:stretch>
            <a:fillRect/>
          </a:stretch>
        </p:blipFill>
        <p:spPr>
          <a:xfrm>
            <a:off x="1249582" y="1536192"/>
            <a:ext cx="5730435" cy="4974336"/>
          </a:xfrm>
          <a:prstGeom prst="rect">
            <a:avLst/>
          </a:prstGeom>
        </p:spPr>
      </p:pic>
      <p:sp>
        <p:nvSpPr>
          <p:cNvPr id="6" name="Shape 3"/>
          <p:cNvSpPr/>
          <p:nvPr/>
        </p:nvSpPr>
        <p:spPr>
          <a:xfrm>
            <a:off x="8092440" y="1554480"/>
            <a:ext cx="3611880" cy="1115568"/>
          </a:xfrm>
          <a:prstGeom prst="roundRect">
            <a:avLst>
              <a:gd name="adj" fmla="val 6557"/>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7" name="Text 4"/>
          <p:cNvSpPr txBox="1"/>
          <p:nvPr/>
        </p:nvSpPr>
        <p:spPr>
          <a:xfrm>
            <a:off x="8275320" y="1664208"/>
            <a:ext cx="3291840" cy="548640"/>
          </a:xfrm>
          <a:prstGeom prst="rect">
            <a:avLst/>
          </a:prstGeom>
          <a:noFill/>
          <a:ln/>
        </p:spPr>
        <p:txBody>
          <a:bodyPr wrap="square" lIns="0" tIns="0" rIns="0" bIns="0" rtlCol="0" anchor="t"/>
          <a:lstStyle/>
          <a:p>
            <a:pPr indent="0" marL="0">
              <a:buNone/>
            </a:pPr>
            <a:r>
              <a:rPr lang="en-US" sz="2400" b="1" dirty="0">
                <a:solidFill>
                  <a:srgbClr val="0F5C54"/>
                </a:solidFill>
                <a:latin typeface="Cambria" pitchFamily="34" charset="0"/>
                <a:ea typeface="Cambria" pitchFamily="34" charset="-122"/>
                <a:cs typeface="Cambria" pitchFamily="34" charset="-120"/>
              </a:rPr>
              <a:t>₹11,74,376</a:t>
            </a:r>
            <a:endParaRPr lang="en-US" sz="2400" dirty="0"/>
          </a:p>
        </p:txBody>
      </p:sp>
      <p:sp>
        <p:nvSpPr>
          <p:cNvPr id="8" name="Text 5"/>
          <p:cNvSpPr txBox="1"/>
          <p:nvPr/>
        </p:nvSpPr>
        <p:spPr>
          <a:xfrm>
            <a:off x="8275320" y="2231136"/>
            <a:ext cx="3291840" cy="3657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billed across 67 open episodes</a:t>
            </a:r>
            <a:endParaRPr lang="en-US" sz="1200" dirty="0"/>
          </a:p>
        </p:txBody>
      </p:sp>
      <p:sp>
        <p:nvSpPr>
          <p:cNvPr id="9" name="Shape 6"/>
          <p:cNvSpPr/>
          <p:nvPr/>
        </p:nvSpPr>
        <p:spPr>
          <a:xfrm>
            <a:off x="8092440" y="2834640"/>
            <a:ext cx="3611880" cy="1115568"/>
          </a:xfrm>
          <a:prstGeom prst="roundRect">
            <a:avLst>
              <a:gd name="adj" fmla="val 6557"/>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8275320" y="2944368"/>
            <a:ext cx="3291840" cy="548640"/>
          </a:xfrm>
          <a:prstGeom prst="rect">
            <a:avLst/>
          </a:prstGeom>
          <a:noFill/>
          <a:ln/>
        </p:spPr>
        <p:txBody>
          <a:bodyPr wrap="square" lIns="0" tIns="0" rIns="0" bIns="0" rtlCol="0" anchor="t"/>
          <a:lstStyle/>
          <a:p>
            <a:pPr indent="0" marL="0">
              <a:buNone/>
            </a:pPr>
            <a:r>
              <a:rPr lang="en-US" sz="2400" b="1" dirty="0">
                <a:solidFill>
                  <a:srgbClr val="0F5C54"/>
                </a:solidFill>
                <a:latin typeface="Cambria" pitchFamily="34" charset="0"/>
                <a:ea typeface="Cambria" pitchFamily="34" charset="-122"/>
                <a:cs typeface="Cambria" pitchFamily="34" charset="-120"/>
              </a:rPr>
              <a:t>₹3,54,433</a:t>
            </a:r>
            <a:endParaRPr lang="en-US" sz="2400" dirty="0"/>
          </a:p>
        </p:txBody>
      </p:sp>
      <p:sp>
        <p:nvSpPr>
          <p:cNvPr id="11" name="Text 8"/>
          <p:cNvSpPr txBox="1"/>
          <p:nvPr/>
        </p:nvSpPr>
        <p:spPr>
          <a:xfrm>
            <a:off x="8275320" y="3511296"/>
            <a:ext cx="3291840" cy="3657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patient share still to collect</a:t>
            </a:r>
            <a:endParaRPr lang="en-US" sz="1200" dirty="0"/>
          </a:p>
        </p:txBody>
      </p:sp>
      <p:sp>
        <p:nvSpPr>
          <p:cNvPr id="12" name="Shape 9"/>
          <p:cNvSpPr/>
          <p:nvPr/>
        </p:nvSpPr>
        <p:spPr>
          <a:xfrm>
            <a:off x="8092440" y="4114800"/>
            <a:ext cx="3611880" cy="1115568"/>
          </a:xfrm>
          <a:prstGeom prst="roundRect">
            <a:avLst>
              <a:gd name="adj" fmla="val 6557"/>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3" name="Text 10"/>
          <p:cNvSpPr txBox="1"/>
          <p:nvPr/>
        </p:nvSpPr>
        <p:spPr>
          <a:xfrm>
            <a:off x="8275320" y="4224528"/>
            <a:ext cx="3291840" cy="548640"/>
          </a:xfrm>
          <a:prstGeom prst="rect">
            <a:avLst/>
          </a:prstGeom>
          <a:noFill/>
          <a:ln/>
        </p:spPr>
        <p:txBody>
          <a:bodyPr wrap="square" lIns="0" tIns="0" rIns="0" bIns="0" rtlCol="0" anchor="t"/>
          <a:lstStyle/>
          <a:p>
            <a:pPr indent="0" marL="0">
              <a:buNone/>
            </a:pPr>
            <a:r>
              <a:rPr lang="en-US" sz="2400" b="1" dirty="0">
                <a:solidFill>
                  <a:srgbClr val="0F5C54"/>
                </a:solidFill>
                <a:latin typeface="Cambria" pitchFamily="34" charset="0"/>
                <a:ea typeface="Cambria" pitchFamily="34" charset="-122"/>
                <a:cs typeface="Cambria" pitchFamily="34" charset="-120"/>
              </a:rPr>
              <a:t>₹3,56,280</a:t>
            </a:r>
            <a:endParaRPr lang="en-US" sz="2400" dirty="0"/>
          </a:p>
        </p:txBody>
      </p:sp>
      <p:sp>
        <p:nvSpPr>
          <p:cNvPr id="14" name="Text 11"/>
          <p:cNvSpPr txBox="1"/>
          <p:nvPr/>
        </p:nvSpPr>
        <p:spPr>
          <a:xfrm>
            <a:off x="8275320" y="4791456"/>
            <a:ext cx="3291840" cy="3657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PM-JAY package adjustment</a:t>
            </a:r>
            <a:endParaRPr lang="en-US" sz="1200" dirty="0"/>
          </a:p>
        </p:txBody>
      </p:sp>
      <p:sp>
        <p:nvSpPr>
          <p:cNvPr id="15" name="Shape 12"/>
          <p:cNvSpPr/>
          <p:nvPr/>
        </p:nvSpPr>
        <p:spPr>
          <a:xfrm>
            <a:off x="8092440" y="5394960"/>
            <a:ext cx="3611880" cy="1115568"/>
          </a:xfrm>
          <a:prstGeom prst="roundRect">
            <a:avLst>
              <a:gd name="adj" fmla="val 6557"/>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6" name="Text 13"/>
          <p:cNvSpPr txBox="1"/>
          <p:nvPr/>
        </p:nvSpPr>
        <p:spPr>
          <a:xfrm>
            <a:off x="8275320" y="5504688"/>
            <a:ext cx="3291840" cy="548640"/>
          </a:xfrm>
          <a:prstGeom prst="rect">
            <a:avLst/>
          </a:prstGeom>
          <a:noFill/>
          <a:ln/>
        </p:spPr>
        <p:txBody>
          <a:bodyPr wrap="square" lIns="0" tIns="0" rIns="0" bIns="0" rtlCol="0" anchor="t"/>
          <a:lstStyle/>
          <a:p>
            <a:pPr indent="0" marL="0">
              <a:buNone/>
            </a:pPr>
            <a:r>
              <a:rPr lang="en-US" sz="2400" b="1" dirty="0">
                <a:solidFill>
                  <a:srgbClr val="0F5C54"/>
                </a:solidFill>
                <a:latin typeface="Cambria" pitchFamily="34" charset="0"/>
                <a:ea typeface="Cambria" pitchFamily="34" charset="-122"/>
                <a:cs typeface="Cambria" pitchFamily="34" charset="-120"/>
              </a:rPr>
              <a:t>26 / 9 / 32</a:t>
            </a:r>
            <a:endParaRPr lang="en-US" sz="2400" dirty="0"/>
          </a:p>
        </p:txBody>
      </p:sp>
      <p:sp>
        <p:nvSpPr>
          <p:cNvPr id="17" name="Text 14"/>
          <p:cNvSpPr txBox="1"/>
          <p:nvPr/>
        </p:nvSpPr>
        <p:spPr>
          <a:xfrm>
            <a:off x="8275320" y="6071616"/>
            <a:ext cx="3291840" cy="3657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PM-JAY / insured / self-pay patients</a:t>
            </a:r>
            <a:endParaRPr lang="en-US" sz="1200" dirty="0"/>
          </a:p>
        </p:txBody>
      </p:sp>
      <p:sp>
        <p:nvSpPr>
          <p:cNvPr id="18" name="Text 15"/>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Built for the ward, not just the dashboard</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Hinglish copilot · ICU central monitor with smart alarms · AI-drafted notes and SBAR handover</a:t>
            </a:r>
            <a:endParaRPr lang="en-US" sz="1500" dirty="0"/>
          </a:p>
        </p:txBody>
      </p:sp>
      <p:sp>
        <p:nvSpPr>
          <p:cNvPr id="4" name="Shape 2"/>
          <p:cNvSpPr/>
          <p:nvPr/>
        </p:nvSpPr>
        <p:spPr>
          <a:xfrm>
            <a:off x="1204794" y="1417320"/>
            <a:ext cx="4082652" cy="2743200"/>
          </a:xfrm>
          <a:prstGeom prst="roundRect">
            <a:avLst>
              <a:gd name="adj" fmla="val 2667"/>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copilot.png">    </p:cNvPr>
          <p:cNvPicPr>
            <a:picLocks noChangeAspect="1"/>
          </p:cNvPicPr>
          <p:nvPr/>
        </p:nvPicPr>
        <p:blipFill>
          <a:blip r:embed="rId1"/>
          <a:stretch>
            <a:fillRect/>
          </a:stretch>
        </p:blipFill>
        <p:spPr>
          <a:xfrm>
            <a:off x="1277946" y="1490472"/>
            <a:ext cx="3936348" cy="2596896"/>
          </a:xfrm>
          <a:prstGeom prst="rect">
            <a:avLst/>
          </a:prstGeom>
        </p:spPr>
      </p:pic>
      <p:sp>
        <p:nvSpPr>
          <p:cNvPr id="6" name="Shape 3"/>
          <p:cNvSpPr/>
          <p:nvPr/>
        </p:nvSpPr>
        <p:spPr>
          <a:xfrm>
            <a:off x="7018203" y="1417320"/>
            <a:ext cx="3885834" cy="2743200"/>
          </a:xfrm>
          <a:prstGeom prst="roundRect">
            <a:avLst>
              <a:gd name="adj" fmla="val 2667"/>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7" name="Image 1" descr="C:\Users\HP\AppData\Local\Temp\claude\D--codin-idea-lab\87151ddf-948a-4e83-8159-c0449757400e\scratchpad\report\shots\monitor.png">    </p:cNvPr>
          <p:cNvPicPr>
            <a:picLocks noChangeAspect="1"/>
          </p:cNvPicPr>
          <p:nvPr/>
        </p:nvPicPr>
        <p:blipFill>
          <a:blip r:embed="rId2"/>
          <a:stretch>
            <a:fillRect/>
          </a:stretch>
        </p:blipFill>
        <p:spPr>
          <a:xfrm>
            <a:off x="7091355" y="1490472"/>
            <a:ext cx="3739530" cy="2596896"/>
          </a:xfrm>
          <a:prstGeom prst="rect">
            <a:avLst/>
          </a:prstGeom>
        </p:spPr>
      </p:pic>
      <p:sp>
        <p:nvSpPr>
          <p:cNvPr id="8" name="Shape 4"/>
          <p:cNvSpPr/>
          <p:nvPr/>
        </p:nvSpPr>
        <p:spPr>
          <a:xfrm>
            <a:off x="457200" y="4389120"/>
            <a:ext cx="3611880" cy="2148840"/>
          </a:xfrm>
          <a:prstGeom prst="roundRect">
            <a:avLst>
              <a:gd name="adj" fmla="val 3404"/>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9" name="Shape 5"/>
          <p:cNvSpPr/>
          <p:nvPr/>
        </p:nvSpPr>
        <p:spPr>
          <a:xfrm>
            <a:off x="685800" y="4590288"/>
            <a:ext cx="457200" cy="457200"/>
          </a:xfrm>
          <a:prstGeom prst="ellipse">
            <a:avLst/>
          </a:prstGeom>
          <a:solidFill>
            <a:srgbClr val="0F5C54"/>
          </a:solidFill>
          <a:ln w="12700">
            <a:solidFill>
              <a:srgbClr val="0F5C54"/>
            </a:solidFill>
            <a:prstDash val="solid"/>
          </a:ln>
        </p:spPr>
      </p:sp>
      <p:sp>
        <p:nvSpPr>
          <p:cNvPr id="10" name="Text 6"/>
          <p:cNvSpPr txBox="1"/>
          <p:nvPr/>
        </p:nvSpPr>
        <p:spPr>
          <a:xfrm>
            <a:off x="68580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7"/>
          <p:cNvSpPr txBox="1"/>
          <p:nvPr/>
        </p:nvSpPr>
        <p:spPr>
          <a:xfrm>
            <a:off x="1325880" y="4617720"/>
            <a:ext cx="256032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Copilot</a:t>
            </a:r>
            <a:endParaRPr lang="en-US" sz="1700" dirty="0"/>
          </a:p>
        </p:txBody>
      </p:sp>
      <p:sp>
        <p:nvSpPr>
          <p:cNvPr id="12" name="Text 8"/>
          <p:cNvSpPr txBox="1"/>
          <p:nvPr/>
        </p:nvSpPr>
        <p:spPr>
          <a:xfrm>
            <a:off x="685800" y="5193792"/>
            <a:ext cx="3200400" cy="12344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“ICU mein kitne bed khali hain?” — Hinglish understood, the patient under discussion remembered, and it asks *which patient* when unsure</a:t>
            </a:r>
            <a:endParaRPr lang="en-US" sz="1250" dirty="0"/>
          </a:p>
        </p:txBody>
      </p:sp>
      <p:sp>
        <p:nvSpPr>
          <p:cNvPr id="13" name="Shape 9"/>
          <p:cNvSpPr/>
          <p:nvPr/>
        </p:nvSpPr>
        <p:spPr>
          <a:xfrm>
            <a:off x="4261104" y="4389120"/>
            <a:ext cx="3611880" cy="2148840"/>
          </a:xfrm>
          <a:prstGeom prst="roundRect">
            <a:avLst>
              <a:gd name="adj" fmla="val 3404"/>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4" name="Shape 10"/>
          <p:cNvSpPr/>
          <p:nvPr/>
        </p:nvSpPr>
        <p:spPr>
          <a:xfrm>
            <a:off x="4489704" y="4590288"/>
            <a:ext cx="457200" cy="457200"/>
          </a:xfrm>
          <a:prstGeom prst="ellipse">
            <a:avLst/>
          </a:prstGeom>
          <a:solidFill>
            <a:srgbClr val="0F5C54"/>
          </a:solidFill>
          <a:ln w="12700">
            <a:solidFill>
              <a:srgbClr val="0F5C54"/>
            </a:solidFill>
            <a:prstDash val="solid"/>
          </a:ln>
        </p:spPr>
      </p:sp>
      <p:sp>
        <p:nvSpPr>
          <p:cNvPr id="15" name="Text 11"/>
          <p:cNvSpPr txBox="1"/>
          <p:nvPr/>
        </p:nvSpPr>
        <p:spPr>
          <a:xfrm>
            <a:off x="4489704"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2"/>
          <p:cNvSpPr txBox="1"/>
          <p:nvPr/>
        </p:nvSpPr>
        <p:spPr>
          <a:xfrm>
            <a:off x="5129784" y="4617720"/>
            <a:ext cx="256032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Smart alarms</a:t>
            </a:r>
            <a:endParaRPr lang="en-US" sz="1700" dirty="0"/>
          </a:p>
        </p:txBody>
      </p:sp>
      <p:sp>
        <p:nvSpPr>
          <p:cNvPr id="17" name="Text 13"/>
          <p:cNvSpPr txBox="1"/>
          <p:nvPr/>
        </p:nvSpPr>
        <p:spPr>
          <a:xfrm>
            <a:off x="4489704" y="5193792"/>
            <a:ext cx="3200400" cy="12344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A breach must persist for 3 readings before it alarms — transient artefacts are suppressed and counted</a:t>
            </a:r>
            <a:endParaRPr lang="en-US" sz="1250" dirty="0"/>
          </a:p>
        </p:txBody>
      </p:sp>
      <p:sp>
        <p:nvSpPr>
          <p:cNvPr id="18" name="Shape 14"/>
          <p:cNvSpPr/>
          <p:nvPr/>
        </p:nvSpPr>
        <p:spPr>
          <a:xfrm>
            <a:off x="8065008" y="4389120"/>
            <a:ext cx="3611880" cy="2148840"/>
          </a:xfrm>
          <a:prstGeom prst="roundRect">
            <a:avLst>
              <a:gd name="adj" fmla="val 3404"/>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9" name="Shape 15"/>
          <p:cNvSpPr/>
          <p:nvPr/>
        </p:nvSpPr>
        <p:spPr>
          <a:xfrm>
            <a:off x="8293608" y="4590288"/>
            <a:ext cx="457200" cy="457200"/>
          </a:xfrm>
          <a:prstGeom prst="ellipse">
            <a:avLst/>
          </a:prstGeom>
          <a:solidFill>
            <a:srgbClr val="0F5C54"/>
          </a:solidFill>
          <a:ln w="12700">
            <a:solidFill>
              <a:srgbClr val="0F5C54"/>
            </a:solidFill>
            <a:prstDash val="solid"/>
          </a:ln>
        </p:spPr>
      </p:sp>
      <p:sp>
        <p:nvSpPr>
          <p:cNvPr id="20" name="Text 16"/>
          <p:cNvSpPr txBox="1"/>
          <p:nvPr/>
        </p:nvSpPr>
        <p:spPr>
          <a:xfrm>
            <a:off x="8293608"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7"/>
          <p:cNvSpPr txBox="1"/>
          <p:nvPr/>
        </p:nvSpPr>
        <p:spPr>
          <a:xfrm>
            <a:off x="8933688" y="4617720"/>
            <a:ext cx="256032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Documentation</a:t>
            </a:r>
            <a:endParaRPr lang="en-US" sz="1700" dirty="0"/>
          </a:p>
        </p:txBody>
      </p:sp>
      <p:sp>
        <p:nvSpPr>
          <p:cNvPr id="22" name="Text 18"/>
          <p:cNvSpPr txBox="1"/>
          <p:nvPr/>
        </p:nvSpPr>
        <p:spPr>
          <a:xfrm>
            <a:off x="8293608" y="5193792"/>
            <a:ext cx="3200400" cy="12344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SOAP note drafted from the chart (clinician edits and signs) and SBAR handover for every bed in the ward</a:t>
            </a:r>
            <a:endParaRPr lang="en-US" sz="1250" dirty="0"/>
          </a:p>
        </p:txBody>
      </p:sp>
      <p:sp>
        <p:nvSpPr>
          <p:cNvPr id="23" name="Text 19"/>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Governance: how do we know the AI is supervised?</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Oversight metrics and honest model cards, visible inside the product</a:t>
            </a:r>
            <a:endParaRPr lang="en-US" sz="1500" dirty="0"/>
          </a:p>
        </p:txBody>
      </p:sp>
      <p:sp>
        <p:nvSpPr>
          <p:cNvPr id="4" name="Shape 2"/>
          <p:cNvSpPr/>
          <p:nvPr/>
        </p:nvSpPr>
        <p:spPr>
          <a:xfrm>
            <a:off x="1733869" y="1463040"/>
            <a:ext cx="4487543" cy="5120640"/>
          </a:xfrm>
          <a:prstGeom prst="roundRect">
            <a:avLst>
              <a:gd name="adj" fmla="val 163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governance.png">    </p:cNvPr>
          <p:cNvPicPr>
            <a:picLocks noChangeAspect="1"/>
          </p:cNvPicPr>
          <p:nvPr/>
        </p:nvPicPr>
        <p:blipFill>
          <a:blip r:embed="rId1"/>
          <a:stretch>
            <a:fillRect/>
          </a:stretch>
        </p:blipFill>
        <p:spPr>
          <a:xfrm>
            <a:off x="1807021" y="1536192"/>
            <a:ext cx="4341239" cy="4974336"/>
          </a:xfrm>
          <a:prstGeom prst="rect">
            <a:avLst/>
          </a:prstGeom>
        </p:spPr>
      </p:pic>
      <p:sp>
        <p:nvSpPr>
          <p:cNvPr id="6" name="Shape 3"/>
          <p:cNvSpPr/>
          <p:nvPr/>
        </p:nvSpPr>
        <p:spPr>
          <a:xfrm>
            <a:off x="7726680" y="1554480"/>
            <a:ext cx="3977640" cy="1508760"/>
          </a:xfrm>
          <a:prstGeom prst="roundRect">
            <a:avLst>
              <a:gd name="adj" fmla="val 4848"/>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7" name="Text 4"/>
          <p:cNvSpPr txBox="1"/>
          <p:nvPr/>
        </p:nvSpPr>
        <p:spPr>
          <a:xfrm>
            <a:off x="7909560" y="1664208"/>
            <a:ext cx="3657600" cy="320040"/>
          </a:xfrm>
          <a:prstGeom prst="rect">
            <a:avLst/>
          </a:prstGeom>
          <a:noFill/>
          <a:ln/>
        </p:spPr>
        <p:txBody>
          <a:bodyPr wrap="square" lIns="0" tIns="0" rIns="0" bIns="0" rtlCol="0" anchor="t"/>
          <a:lstStyle/>
          <a:p>
            <a:pPr indent="0" marL="0">
              <a:buNone/>
            </a:pPr>
            <a:r>
              <a:rPr lang="en-US" sz="1500" b="1" dirty="0">
                <a:solidFill>
                  <a:srgbClr val="0F5C54"/>
                </a:solidFill>
                <a:latin typeface="Calibri" pitchFamily="34" charset="0"/>
                <a:ea typeface="Calibri" pitchFamily="34" charset="-122"/>
                <a:cs typeface="Calibri" pitchFamily="34" charset="-120"/>
              </a:rPr>
              <a:t>Human oversight</a:t>
            </a:r>
            <a:endParaRPr lang="en-US" sz="1500" dirty="0"/>
          </a:p>
        </p:txBody>
      </p:sp>
      <p:sp>
        <p:nvSpPr>
          <p:cNvPr id="8" name="Text 5"/>
          <p:cNvSpPr txBox="1"/>
          <p:nvPr/>
        </p:nvSpPr>
        <p:spPr>
          <a:xfrm>
            <a:off x="7909560" y="2011680"/>
            <a:ext cx="3657600" cy="960120"/>
          </a:xfrm>
          <a:prstGeom prst="rect">
            <a:avLst/>
          </a:prstGeom>
          <a:noFill/>
          <a:ln/>
        </p:spPr>
        <p:txBody>
          <a:bodyPr wrap="square" lIns="0" tIns="0" rIns="0" bIns="0" rtlCol="0" anchor="t"/>
          <a:lstStyle/>
          <a:p>
            <a:pPr indent="0" marL="0">
              <a:buNone/>
            </a:pPr>
            <a:r>
              <a:rPr lang="en-US" sz="1150" dirty="0">
                <a:solidFill>
                  <a:srgbClr val="0F172A"/>
                </a:solidFill>
                <a:latin typeface="Calibri" pitchFamily="34" charset="0"/>
                <a:ea typeface="Calibri" pitchFamily="34" charset="-122"/>
                <a:cs typeface="Calibri" pitchFamily="34" charset="-120"/>
              </a:rPr>
              <a:t>Approval, modification and rejection rates, median decision time, autonomy ratio, and which fields humans changed</a:t>
            </a:r>
            <a:endParaRPr lang="en-US" sz="1150" dirty="0"/>
          </a:p>
        </p:txBody>
      </p:sp>
      <p:sp>
        <p:nvSpPr>
          <p:cNvPr id="9" name="Shape 6"/>
          <p:cNvSpPr/>
          <p:nvPr/>
        </p:nvSpPr>
        <p:spPr>
          <a:xfrm>
            <a:off x="7726680" y="3246120"/>
            <a:ext cx="3977640" cy="1508760"/>
          </a:xfrm>
          <a:prstGeom prst="roundRect">
            <a:avLst>
              <a:gd name="adj" fmla="val 4848"/>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7909560" y="3355848"/>
            <a:ext cx="3657600" cy="320040"/>
          </a:xfrm>
          <a:prstGeom prst="rect">
            <a:avLst/>
          </a:prstGeom>
          <a:noFill/>
          <a:ln/>
        </p:spPr>
        <p:txBody>
          <a:bodyPr wrap="square" lIns="0" tIns="0" rIns="0" bIns="0" rtlCol="0" anchor="t"/>
          <a:lstStyle/>
          <a:p>
            <a:pPr indent="0" marL="0">
              <a:buNone/>
            </a:pPr>
            <a:r>
              <a:rPr lang="en-US" sz="1500" b="1" dirty="0">
                <a:solidFill>
                  <a:srgbClr val="0F5C54"/>
                </a:solidFill>
                <a:latin typeface="Calibri" pitchFamily="34" charset="0"/>
                <a:ea typeface="Calibri" pitchFamily="34" charset="-122"/>
                <a:cs typeface="Calibri" pitchFamily="34" charset="-120"/>
              </a:rPr>
              <a:t>Model cards</a:t>
            </a:r>
            <a:endParaRPr lang="en-US" sz="1500" dirty="0"/>
          </a:p>
        </p:txBody>
      </p:sp>
      <p:sp>
        <p:nvSpPr>
          <p:cNvPr id="11" name="Text 8"/>
          <p:cNvSpPr txBox="1"/>
          <p:nvPr/>
        </p:nvSpPr>
        <p:spPr>
          <a:xfrm>
            <a:off x="7909560" y="3703320"/>
            <a:ext cx="3657600" cy="960120"/>
          </a:xfrm>
          <a:prstGeom prst="rect">
            <a:avLst/>
          </a:prstGeom>
          <a:noFill/>
          <a:ln/>
        </p:spPr>
        <p:txBody>
          <a:bodyPr wrap="square" lIns="0" tIns="0" rIns="0" bIns="0" rtlCol="0" anchor="t"/>
          <a:lstStyle/>
          <a:p>
            <a:pPr indent="0" marL="0">
              <a:buNone/>
            </a:pPr>
            <a:r>
              <a:rPr lang="en-US" sz="1150" dirty="0">
                <a:solidFill>
                  <a:srgbClr val="0F172A"/>
                </a:solidFill>
                <a:latin typeface="Calibri" pitchFamily="34" charset="0"/>
                <a:ea typeface="Calibri" pitchFamily="34" charset="-122"/>
                <a:cs typeface="Calibri" pitchFamily="34" charset="-120"/>
              </a:rPr>
              <a:t>Intent classifier 74% leakage-free cross-validation and 96% held-out (incl. Hinglish); LOS MAE 2.07 d vs 2.62 d naïve; readmission AUC 0.721 with a fairness check</a:t>
            </a:r>
            <a:endParaRPr lang="en-US" sz="1150" dirty="0"/>
          </a:p>
        </p:txBody>
      </p:sp>
      <p:sp>
        <p:nvSpPr>
          <p:cNvPr id="12" name="Shape 9"/>
          <p:cNvSpPr/>
          <p:nvPr/>
        </p:nvSpPr>
        <p:spPr>
          <a:xfrm>
            <a:off x="7726680" y="4937760"/>
            <a:ext cx="3977640" cy="1508760"/>
          </a:xfrm>
          <a:prstGeom prst="roundRect">
            <a:avLst>
              <a:gd name="adj" fmla="val 4848"/>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3" name="Text 10"/>
          <p:cNvSpPr txBox="1"/>
          <p:nvPr/>
        </p:nvSpPr>
        <p:spPr>
          <a:xfrm>
            <a:off x="7909560" y="5047488"/>
            <a:ext cx="3657600" cy="320040"/>
          </a:xfrm>
          <a:prstGeom prst="rect">
            <a:avLst/>
          </a:prstGeom>
          <a:noFill/>
          <a:ln/>
        </p:spPr>
        <p:txBody>
          <a:bodyPr wrap="square" lIns="0" tIns="0" rIns="0" bIns="0" rtlCol="0" anchor="t"/>
          <a:lstStyle/>
          <a:p>
            <a:pPr indent="0" marL="0">
              <a:buNone/>
            </a:pPr>
            <a:r>
              <a:rPr lang="en-US" sz="1500" b="1" dirty="0">
                <a:solidFill>
                  <a:srgbClr val="0F5C54"/>
                </a:solidFill>
                <a:latin typeface="Calibri" pitchFamily="34" charset="0"/>
                <a:ea typeface="Calibri" pitchFamily="34" charset="-122"/>
                <a:cs typeface="Calibri" pitchFamily="34" charset="-120"/>
              </a:rPr>
              <a:t>Safety &amp; privacy</a:t>
            </a:r>
            <a:endParaRPr lang="en-US" sz="1500" dirty="0"/>
          </a:p>
        </p:txBody>
      </p:sp>
      <p:sp>
        <p:nvSpPr>
          <p:cNvPr id="14" name="Text 11"/>
          <p:cNvSpPr txBox="1"/>
          <p:nvPr/>
        </p:nvSpPr>
        <p:spPr>
          <a:xfrm>
            <a:off x="7909560" y="5394960"/>
            <a:ext cx="3657600" cy="960120"/>
          </a:xfrm>
          <a:prstGeom prst="rect">
            <a:avLst/>
          </a:prstGeom>
          <a:noFill/>
          <a:ln/>
        </p:spPr>
        <p:txBody>
          <a:bodyPr wrap="square" lIns="0" tIns="0" rIns="0" bIns="0" rtlCol="0" anchor="t"/>
          <a:lstStyle/>
          <a:p>
            <a:pPr indent="0" marL="0">
              <a:buNone/>
            </a:pPr>
            <a:r>
              <a:rPr lang="en-US" sz="1150" dirty="0">
                <a:solidFill>
                  <a:srgbClr val="0F172A"/>
                </a:solidFill>
                <a:latin typeface="Calibri" pitchFamily="34" charset="0"/>
                <a:ea typeface="Calibri" pitchFamily="34" charset="-122"/>
                <a:cs typeface="Calibri" pitchFamily="34" charset="-120"/>
              </a:rPr>
              <a:t>Contraindicated prescriptions blocked; record-access log visible to patients; login lock-out and security headers</a:t>
            </a:r>
            <a:endParaRPr lang="en-US" sz="1150" dirty="0"/>
          </a:p>
        </p:txBody>
      </p:sp>
      <p:sp>
        <p:nvSpPr>
          <p:cNvPr id="15" name="Text 12"/>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Results</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Measured on the synthetic 108-bed hospital</a:t>
            </a:r>
            <a:endParaRPr lang="en-US" sz="1500" dirty="0"/>
          </a:p>
        </p:txBody>
      </p:sp>
      <p:sp>
        <p:nvSpPr>
          <p:cNvPr id="4" name="Shape 2"/>
          <p:cNvSpPr/>
          <p:nvPr/>
        </p:nvSpPr>
        <p:spPr>
          <a:xfrm>
            <a:off x="548640" y="1600200"/>
            <a:ext cx="3520440" cy="2240280"/>
          </a:xfrm>
          <a:prstGeom prst="roundRect">
            <a:avLst>
              <a:gd name="adj" fmla="val 3265"/>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5" name="Text 3"/>
          <p:cNvSpPr txBox="1"/>
          <p:nvPr/>
        </p:nvSpPr>
        <p:spPr>
          <a:xfrm>
            <a:off x="822960" y="1920240"/>
            <a:ext cx="3017520" cy="914400"/>
          </a:xfrm>
          <a:prstGeom prst="rect">
            <a:avLst/>
          </a:prstGeom>
          <a:noFill/>
          <a:ln/>
        </p:spPr>
        <p:txBody>
          <a:bodyPr wrap="square" lIns="0" tIns="0" rIns="0" bIns="0" rtlCol="0" anchor="t"/>
          <a:lstStyle/>
          <a:p>
            <a:pPr indent="0" marL="0">
              <a:buNone/>
            </a:pPr>
            <a:r>
              <a:rPr lang="en-US" sz="4400" b="1" dirty="0">
                <a:solidFill>
                  <a:srgbClr val="0F5C54"/>
                </a:solidFill>
                <a:latin typeface="Cambria" pitchFamily="34" charset="0"/>
                <a:ea typeface="Cambria" pitchFamily="34" charset="-122"/>
                <a:cs typeface="Cambria" pitchFamily="34" charset="-120"/>
              </a:rPr>
              <a:t>95.8%</a:t>
            </a:r>
            <a:endParaRPr lang="en-US" sz="4400" dirty="0"/>
          </a:p>
        </p:txBody>
      </p:sp>
      <p:sp>
        <p:nvSpPr>
          <p:cNvPr id="6" name="Text 4"/>
          <p:cNvSpPr txBox="1"/>
          <p:nvPr/>
        </p:nvSpPr>
        <p:spPr>
          <a:xfrm>
            <a:off x="822960" y="2926080"/>
            <a:ext cx="3017520" cy="73152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intent accuracy on held-out requests (74% cross-validated)</a:t>
            </a:r>
            <a:endParaRPr lang="en-US" sz="1400" dirty="0"/>
          </a:p>
        </p:txBody>
      </p:sp>
      <p:sp>
        <p:nvSpPr>
          <p:cNvPr id="7" name="Shape 5"/>
          <p:cNvSpPr/>
          <p:nvPr/>
        </p:nvSpPr>
        <p:spPr>
          <a:xfrm>
            <a:off x="4297680" y="1600200"/>
            <a:ext cx="3520440" cy="2240280"/>
          </a:xfrm>
          <a:prstGeom prst="roundRect">
            <a:avLst>
              <a:gd name="adj" fmla="val 3265"/>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4572000" y="1920240"/>
            <a:ext cx="3017520" cy="914400"/>
          </a:xfrm>
          <a:prstGeom prst="rect">
            <a:avLst/>
          </a:prstGeom>
          <a:noFill/>
          <a:ln/>
        </p:spPr>
        <p:txBody>
          <a:bodyPr wrap="square" lIns="0" tIns="0" rIns="0" bIns="0" rtlCol="0" anchor="t"/>
          <a:lstStyle/>
          <a:p>
            <a:pPr indent="0" marL="0">
              <a:buNone/>
            </a:pPr>
            <a:r>
              <a:rPr lang="en-US" sz="4400" b="1" dirty="0">
                <a:solidFill>
                  <a:srgbClr val="0F5C54"/>
                </a:solidFill>
                <a:latin typeface="Cambria" pitchFamily="34" charset="0"/>
                <a:ea typeface="Cambria" pitchFamily="34" charset="-122"/>
                <a:cs typeface="Cambria" pitchFamily="34" charset="-120"/>
              </a:rPr>
              <a:t>3.07%</a:t>
            </a:r>
            <a:endParaRPr lang="en-US" sz="4400" dirty="0"/>
          </a:p>
        </p:txBody>
      </p:sp>
      <p:sp>
        <p:nvSpPr>
          <p:cNvPr id="9" name="Text 7"/>
          <p:cNvSpPr txBox="1"/>
          <p:nvPr/>
        </p:nvSpPr>
        <p:spPr>
          <a:xfrm>
            <a:off x="4572000" y="2926080"/>
            <a:ext cx="3017520" cy="73152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bed-occupancy forecast MAPE (naive: 4.14%)</a:t>
            </a:r>
            <a:endParaRPr lang="en-US" sz="1400" dirty="0"/>
          </a:p>
        </p:txBody>
      </p:sp>
      <p:sp>
        <p:nvSpPr>
          <p:cNvPr id="10" name="Shape 8"/>
          <p:cNvSpPr/>
          <p:nvPr/>
        </p:nvSpPr>
        <p:spPr>
          <a:xfrm>
            <a:off x="8046720" y="1600200"/>
            <a:ext cx="3520440" cy="2240280"/>
          </a:xfrm>
          <a:prstGeom prst="roundRect">
            <a:avLst>
              <a:gd name="adj" fmla="val 3265"/>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1" name="Text 9"/>
          <p:cNvSpPr txBox="1"/>
          <p:nvPr/>
        </p:nvSpPr>
        <p:spPr>
          <a:xfrm>
            <a:off x="8321040" y="1920240"/>
            <a:ext cx="3017520" cy="914400"/>
          </a:xfrm>
          <a:prstGeom prst="rect">
            <a:avLst/>
          </a:prstGeom>
          <a:noFill/>
          <a:ln/>
        </p:spPr>
        <p:txBody>
          <a:bodyPr wrap="square" lIns="0" tIns="0" rIns="0" bIns="0" rtlCol="0" anchor="t"/>
          <a:lstStyle/>
          <a:p>
            <a:pPr indent="0" marL="0">
              <a:buNone/>
            </a:pPr>
            <a:r>
              <a:rPr lang="en-US" sz="4400" b="1" dirty="0">
                <a:solidFill>
                  <a:srgbClr val="F97360"/>
                </a:solidFill>
                <a:latin typeface="Cambria" pitchFamily="34" charset="0"/>
                <a:ea typeface="Cambria" pitchFamily="34" charset="-122"/>
                <a:cs typeface="Cambria" pitchFamily="34" charset="-120"/>
              </a:rPr>
              <a:t>−21%</a:t>
            </a:r>
            <a:endParaRPr lang="en-US" sz="4400" dirty="0"/>
          </a:p>
        </p:txBody>
      </p:sp>
      <p:sp>
        <p:nvSpPr>
          <p:cNvPr id="12" name="Text 10"/>
          <p:cNvSpPr txBox="1"/>
          <p:nvPr/>
        </p:nvSpPr>
        <p:spPr>
          <a:xfrm>
            <a:off x="8321040" y="2926080"/>
            <a:ext cx="3017520" cy="73152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length-of-stay error vs baseline (MAE 2.07 d)</a:t>
            </a:r>
            <a:endParaRPr lang="en-US" sz="1400" dirty="0"/>
          </a:p>
        </p:txBody>
      </p:sp>
      <p:sp>
        <p:nvSpPr>
          <p:cNvPr id="13" name="Shape 11"/>
          <p:cNvSpPr/>
          <p:nvPr/>
        </p:nvSpPr>
        <p:spPr>
          <a:xfrm>
            <a:off x="548640" y="4069080"/>
            <a:ext cx="3520440" cy="2240280"/>
          </a:xfrm>
          <a:prstGeom prst="roundRect">
            <a:avLst>
              <a:gd name="adj" fmla="val 3265"/>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4" name="Text 12"/>
          <p:cNvSpPr txBox="1"/>
          <p:nvPr/>
        </p:nvSpPr>
        <p:spPr>
          <a:xfrm>
            <a:off x="822960" y="4389120"/>
            <a:ext cx="3017520" cy="914400"/>
          </a:xfrm>
          <a:prstGeom prst="rect">
            <a:avLst/>
          </a:prstGeom>
          <a:noFill/>
          <a:ln/>
        </p:spPr>
        <p:txBody>
          <a:bodyPr wrap="square" lIns="0" tIns="0" rIns="0" bIns="0" rtlCol="0" anchor="t"/>
          <a:lstStyle/>
          <a:p>
            <a:pPr indent="0" marL="0">
              <a:buNone/>
            </a:pPr>
            <a:r>
              <a:rPr lang="en-US" sz="4400" b="1" dirty="0">
                <a:solidFill>
                  <a:srgbClr val="0F5C54"/>
                </a:solidFill>
                <a:latin typeface="Cambria" pitchFamily="34" charset="0"/>
                <a:ea typeface="Cambria" pitchFamily="34" charset="-122"/>
                <a:cs typeface="Cambria" pitchFamily="34" charset="-120"/>
              </a:rPr>
              <a:t>1.1 s</a:t>
            </a:r>
            <a:endParaRPr lang="en-US" sz="4400" dirty="0"/>
          </a:p>
        </p:txBody>
      </p:sp>
      <p:sp>
        <p:nvSpPr>
          <p:cNvPr id="15" name="Text 13"/>
          <p:cNvSpPr txBox="1"/>
          <p:nvPr/>
        </p:nvSpPr>
        <p:spPr>
          <a:xfrm>
            <a:off x="822960" y="5394960"/>
            <a:ext cx="3017520" cy="73152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optimal 7-day roster for 77 staff</a:t>
            </a:r>
            <a:endParaRPr lang="en-US" sz="1400" dirty="0"/>
          </a:p>
        </p:txBody>
      </p:sp>
      <p:sp>
        <p:nvSpPr>
          <p:cNvPr id="16" name="Shape 14"/>
          <p:cNvSpPr/>
          <p:nvPr/>
        </p:nvSpPr>
        <p:spPr>
          <a:xfrm>
            <a:off x="4297680" y="4069080"/>
            <a:ext cx="3520440" cy="2240280"/>
          </a:xfrm>
          <a:prstGeom prst="roundRect">
            <a:avLst>
              <a:gd name="adj" fmla="val 3265"/>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7" name="Text 15"/>
          <p:cNvSpPr txBox="1"/>
          <p:nvPr/>
        </p:nvSpPr>
        <p:spPr>
          <a:xfrm>
            <a:off x="4572000" y="4389120"/>
            <a:ext cx="3017520" cy="914400"/>
          </a:xfrm>
          <a:prstGeom prst="rect">
            <a:avLst/>
          </a:prstGeom>
          <a:noFill/>
          <a:ln/>
        </p:spPr>
        <p:txBody>
          <a:bodyPr wrap="square" lIns="0" tIns="0" rIns="0" bIns="0" rtlCol="0" anchor="t"/>
          <a:lstStyle/>
          <a:p>
            <a:pPr indent="0" marL="0">
              <a:buNone/>
            </a:pPr>
            <a:r>
              <a:rPr lang="en-US" sz="4400" b="1" dirty="0">
                <a:solidFill>
                  <a:srgbClr val="0F5C54"/>
                </a:solidFill>
                <a:latin typeface="Cambria" pitchFamily="34" charset="0"/>
                <a:ea typeface="Cambria" pitchFamily="34" charset="-122"/>
                <a:cs typeface="Cambria" pitchFamily="34" charset="-120"/>
              </a:rPr>
              <a:t>55 / 55</a:t>
            </a:r>
            <a:endParaRPr lang="en-US" sz="4400" dirty="0"/>
          </a:p>
        </p:txBody>
      </p:sp>
      <p:sp>
        <p:nvSpPr>
          <p:cNvPr id="18" name="Text 16"/>
          <p:cNvSpPr txBox="1"/>
          <p:nvPr/>
        </p:nvSpPr>
        <p:spPr>
          <a:xfrm>
            <a:off x="4572000" y="5394960"/>
            <a:ext cx="3017520" cy="73152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automated tests passing</a:t>
            </a:r>
            <a:endParaRPr lang="en-US" sz="1400" dirty="0"/>
          </a:p>
        </p:txBody>
      </p:sp>
      <p:sp>
        <p:nvSpPr>
          <p:cNvPr id="19" name="Shape 17"/>
          <p:cNvSpPr/>
          <p:nvPr/>
        </p:nvSpPr>
        <p:spPr>
          <a:xfrm>
            <a:off x="8046720" y="4069080"/>
            <a:ext cx="3520440" cy="2240280"/>
          </a:xfrm>
          <a:prstGeom prst="roundRect">
            <a:avLst>
              <a:gd name="adj" fmla="val 3265"/>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321040" y="4389120"/>
            <a:ext cx="3017520" cy="914400"/>
          </a:xfrm>
          <a:prstGeom prst="rect">
            <a:avLst/>
          </a:prstGeom>
          <a:noFill/>
          <a:ln/>
        </p:spPr>
        <p:txBody>
          <a:bodyPr wrap="square" lIns="0" tIns="0" rIns="0" bIns="0" rtlCol="0" anchor="t"/>
          <a:lstStyle/>
          <a:p>
            <a:pPr indent="0" marL="0">
              <a:buNone/>
            </a:pPr>
            <a:r>
              <a:rPr lang="en-US" sz="4400" b="1" dirty="0">
                <a:solidFill>
                  <a:srgbClr val="0F5C54"/>
                </a:solidFill>
                <a:latin typeface="Cambria" pitchFamily="34" charset="0"/>
                <a:ea typeface="Cambria" pitchFamily="34" charset="-122"/>
                <a:cs typeface="Cambria" pitchFamily="34" charset="-120"/>
              </a:rPr>
              <a:t>0.5 s</a:t>
            </a:r>
            <a:endParaRPr lang="en-US" sz="4400" dirty="0"/>
          </a:p>
        </p:txBody>
      </p:sp>
      <p:sp>
        <p:nvSpPr>
          <p:cNvPr id="21" name="Text 19"/>
          <p:cNvSpPr txBox="1"/>
          <p:nvPr/>
        </p:nvSpPr>
        <p:spPr>
          <a:xfrm>
            <a:off x="8321040" y="5394960"/>
            <a:ext cx="3017520" cy="73152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digital twin: 20 replications × 2 scenarios</a:t>
            </a:r>
            <a:endParaRPr lang="en-US" sz="1400" dirty="0"/>
          </a:p>
        </p:txBody>
      </p:sp>
      <p:sp>
        <p:nvSpPr>
          <p:cNvPr id="22" name="Text 20"/>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Forecasting accuracy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Holt-Winters vs. seasonal-naive baseline — 14-day hold-out MAPE, reported as measured (lower is better)</a:t>
            </a:r>
            <a:endParaRPr lang="en-US" sz="1500" dirty="0"/>
          </a:p>
        </p:txBody>
      </p:sp>
      <p:sp>
        <p:nvSpPr>
          <p:cNvPr id="4" name="Shape 2"/>
          <p:cNvSpPr/>
          <p:nvPr/>
        </p:nvSpPr>
        <p:spPr>
          <a:xfrm>
            <a:off x="457200" y="1463040"/>
            <a:ext cx="7498080" cy="5120640"/>
          </a:xfrm>
          <a:prstGeom prst="roundRect">
            <a:avLst>
              <a:gd name="adj" fmla="val 1429"/>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graphicFrame>
        <p:nvGraphicFramePr>
          <p:cNvPr id="5" name="Chart 0" descr=""/>
          <p:cNvGraphicFramePr/>
          <p:nvPr/>
        </p:nvGraphicFramePr>
        <p:xfrm>
          <a:off x="640080" y="1645920"/>
          <a:ext cx="7132320" cy="4754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321040" y="1737360"/>
            <a:ext cx="3474720" cy="45720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Better than the seasonal-naive baseline on 4 of 5 series (admissions, the noisiest, is the exception)</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Weekly pattern (Monday peak, Sunday low) captured automatically</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Length-of-stay model: MAE 2.07 d vs 2.62 d baseline, R² 0.36</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80% interval coverage 78% — honest uncertainty</a:t>
            </a:r>
            <a:endParaRPr lang="en-US" sz="1500" dirty="0"/>
          </a:p>
        </p:txBody>
      </p:sp>
      <p:sp>
        <p:nvSpPr>
          <p:cNvPr id="7" name="Text 4"/>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One platform, every role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29 screens — role dashboards, clinical workflows, pre-hospital, finance, analytics, public screens and a patient app</a:t>
            </a:r>
            <a:endParaRPr lang="en-US" sz="1500" dirty="0"/>
          </a:p>
        </p:txBody>
      </p:sp>
      <p:sp>
        <p:nvSpPr>
          <p:cNvPr id="4" name="Shape 2"/>
          <p:cNvSpPr/>
          <p:nvPr/>
        </p:nvSpPr>
        <p:spPr>
          <a:xfrm>
            <a:off x="818507" y="1417320"/>
            <a:ext cx="4855226"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5" name="Image 0" descr="C:\Users\HP\AppData\Local\Temp\claude\D--codin-idea-lab\87151ddf-948a-4e83-8159-c0449757400e\scratchpad\report\shots\g_inpatients.png">    </p:cNvPr>
          <p:cNvPicPr>
            <a:picLocks noChangeAspect="1"/>
          </p:cNvPicPr>
          <p:nvPr/>
        </p:nvPicPr>
        <p:blipFill>
          <a:blip r:embed="rId1"/>
          <a:stretch>
            <a:fillRect/>
          </a:stretch>
        </p:blipFill>
        <p:spPr>
          <a:xfrm>
            <a:off x="891659" y="1490472"/>
            <a:ext cx="4708922" cy="2139696"/>
          </a:xfrm>
          <a:prstGeom prst="rect">
            <a:avLst/>
          </a:prstGeom>
        </p:spPr>
      </p:pic>
      <p:sp>
        <p:nvSpPr>
          <p:cNvPr id="6" name="Text 3"/>
          <p:cNvSpPr txBox="1"/>
          <p:nvPr/>
        </p:nvSpPr>
        <p:spPr>
          <a:xfrm>
            <a:off x="548640" y="3721608"/>
            <a:ext cx="5394960" cy="292608"/>
          </a:xfrm>
          <a:prstGeom prst="rect">
            <a:avLst/>
          </a:prstGeom>
          <a:noFill/>
          <a:ln/>
        </p:spPr>
        <p:txBody>
          <a:bodyPr wrap="square" lIns="0" tIns="0" rIns="0" bIns="0" rtlCol="0" anchor="t"/>
          <a:lstStyle/>
          <a:p>
            <a:pPr algn="ctr" indent="0" marL="0">
              <a:buNone/>
            </a:pPr>
            <a:r>
              <a:rPr lang="en-US" sz="1300" b="1" dirty="0">
                <a:solidFill>
                  <a:srgbClr val="0F5C54"/>
                </a:solidFill>
                <a:latin typeface="Calibri" pitchFamily="34" charset="0"/>
                <a:ea typeface="Calibri" pitchFamily="34" charset="-122"/>
                <a:cs typeface="Calibri" pitchFamily="34" charset="-120"/>
              </a:rPr>
              <a:t>Inpatients &amp; early warning</a:t>
            </a:r>
            <a:endParaRPr lang="en-US" sz="1300" dirty="0"/>
          </a:p>
        </p:txBody>
      </p:sp>
      <p:sp>
        <p:nvSpPr>
          <p:cNvPr id="7" name="Shape 4"/>
          <p:cNvSpPr/>
          <p:nvPr/>
        </p:nvSpPr>
        <p:spPr>
          <a:xfrm>
            <a:off x="7441720" y="1417320"/>
            <a:ext cx="2947361"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8" name="Image 1" descr="C:\Users\HP\AppData\Local\Temp\claude\D--codin-idea-lab\87151ddf-948a-4e83-8159-c0449757400e\scratchpad\report\shots\handover.png">    </p:cNvPr>
          <p:cNvPicPr>
            <a:picLocks noChangeAspect="1"/>
          </p:cNvPicPr>
          <p:nvPr/>
        </p:nvPicPr>
        <p:blipFill>
          <a:blip r:embed="rId2"/>
          <a:stretch>
            <a:fillRect/>
          </a:stretch>
        </p:blipFill>
        <p:spPr>
          <a:xfrm>
            <a:off x="7514872" y="1490472"/>
            <a:ext cx="2801057" cy="2139696"/>
          </a:xfrm>
          <a:prstGeom prst="rect">
            <a:avLst/>
          </a:prstGeom>
        </p:spPr>
      </p:pic>
      <p:sp>
        <p:nvSpPr>
          <p:cNvPr id="9" name="Text 5"/>
          <p:cNvSpPr txBox="1"/>
          <p:nvPr/>
        </p:nvSpPr>
        <p:spPr>
          <a:xfrm>
            <a:off x="6217920" y="3721608"/>
            <a:ext cx="5394960" cy="292608"/>
          </a:xfrm>
          <a:prstGeom prst="rect">
            <a:avLst/>
          </a:prstGeom>
          <a:noFill/>
          <a:ln/>
        </p:spPr>
        <p:txBody>
          <a:bodyPr wrap="square" lIns="0" tIns="0" rIns="0" bIns="0" rtlCol="0" anchor="t"/>
          <a:lstStyle/>
          <a:p>
            <a:pPr algn="ctr" indent="0" marL="0">
              <a:buNone/>
            </a:pPr>
            <a:r>
              <a:rPr lang="en-US" sz="1300" b="1" dirty="0">
                <a:solidFill>
                  <a:srgbClr val="0F5C54"/>
                </a:solidFill>
                <a:latin typeface="Calibri" pitchFamily="34" charset="0"/>
                <a:ea typeface="Calibri" pitchFamily="34" charset="-122"/>
                <a:cs typeface="Calibri" pitchFamily="34" charset="-120"/>
              </a:rPr>
              <a:t>SBAR shift handover</a:t>
            </a:r>
            <a:endParaRPr lang="en-US" sz="1300" dirty="0"/>
          </a:p>
        </p:txBody>
      </p:sp>
      <p:sp>
        <p:nvSpPr>
          <p:cNvPr id="10" name="Shape 6"/>
          <p:cNvSpPr/>
          <p:nvPr/>
        </p:nvSpPr>
        <p:spPr>
          <a:xfrm>
            <a:off x="818507" y="4069080"/>
            <a:ext cx="4855226" cy="2286000"/>
          </a:xfrm>
          <a:prstGeom prst="roundRect">
            <a:avLst>
              <a:gd name="adj" fmla="val 3200"/>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11" name="Image 2" descr="C:\Users\HP\AppData\Local\Temp\claude\D--codin-idea-lab\87151ddf-948a-4e83-8159-c0449757400e\scratchpad\report\shots\g_analytics.png">    </p:cNvPr>
          <p:cNvPicPr>
            <a:picLocks noChangeAspect="1"/>
          </p:cNvPicPr>
          <p:nvPr/>
        </p:nvPicPr>
        <p:blipFill>
          <a:blip r:embed="rId3"/>
          <a:stretch>
            <a:fillRect/>
          </a:stretch>
        </p:blipFill>
        <p:spPr>
          <a:xfrm>
            <a:off x="891659" y="4142232"/>
            <a:ext cx="4708922" cy="2139696"/>
          </a:xfrm>
          <a:prstGeom prst="rect">
            <a:avLst/>
          </a:prstGeom>
        </p:spPr>
      </p:pic>
      <p:sp>
        <p:nvSpPr>
          <p:cNvPr id="12" name="Text 7"/>
          <p:cNvSpPr txBox="1"/>
          <p:nvPr/>
        </p:nvSpPr>
        <p:spPr>
          <a:xfrm>
            <a:off x="548640" y="6373368"/>
            <a:ext cx="5394960" cy="292608"/>
          </a:xfrm>
          <a:prstGeom prst="rect">
            <a:avLst/>
          </a:prstGeom>
          <a:noFill/>
          <a:ln/>
        </p:spPr>
        <p:txBody>
          <a:bodyPr wrap="square" lIns="0" tIns="0" rIns="0" bIns="0" rtlCol="0" anchor="t"/>
          <a:lstStyle/>
          <a:p>
            <a:pPr algn="ctr" indent="0" marL="0">
              <a:buNone/>
            </a:pPr>
            <a:r>
              <a:rPr lang="en-US" sz="1300" b="1" dirty="0">
                <a:solidFill>
                  <a:srgbClr val="0F5C54"/>
                </a:solidFill>
                <a:latin typeface="Calibri" pitchFamily="34" charset="0"/>
                <a:ea typeface="Calibri" pitchFamily="34" charset="-122"/>
                <a:cs typeface="Calibri" pitchFamily="34" charset="-120"/>
              </a:rPr>
              <a:t>Forecasts &amp; ML model</a:t>
            </a:r>
            <a:endParaRPr lang="en-US" sz="1300" dirty="0"/>
          </a:p>
        </p:txBody>
      </p:sp>
      <p:sp>
        <p:nvSpPr>
          <p:cNvPr id="13" name="Shape 8"/>
          <p:cNvSpPr/>
          <p:nvPr/>
        </p:nvSpPr>
        <p:spPr>
          <a:xfrm>
            <a:off x="7779778" y="4069080"/>
            <a:ext cx="2271243" cy="2286000"/>
          </a:xfrm>
          <a:prstGeom prst="roundRect">
            <a:avLst>
              <a:gd name="adj" fmla="val 322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pic>
        <p:nvPicPr>
          <p:cNvPr id="14" name="Image 3" descr="C:\Users\HP\AppData\Local\Temp\claude\D--codin-idea-lab\87151ddf-948a-4e83-8159-c0449757400e\scratchpad\report\shots\portal.png">    </p:cNvPr>
          <p:cNvPicPr>
            <a:picLocks noChangeAspect="1"/>
          </p:cNvPicPr>
          <p:nvPr/>
        </p:nvPicPr>
        <p:blipFill>
          <a:blip r:embed="rId4"/>
          <a:stretch>
            <a:fillRect/>
          </a:stretch>
        </p:blipFill>
        <p:spPr>
          <a:xfrm>
            <a:off x="7852930" y="4142232"/>
            <a:ext cx="2124939" cy="2139696"/>
          </a:xfrm>
          <a:prstGeom prst="rect">
            <a:avLst/>
          </a:prstGeom>
        </p:spPr>
      </p:pic>
      <p:sp>
        <p:nvSpPr>
          <p:cNvPr id="15" name="Text 9"/>
          <p:cNvSpPr txBox="1"/>
          <p:nvPr/>
        </p:nvSpPr>
        <p:spPr>
          <a:xfrm>
            <a:off x="6217920" y="6373368"/>
            <a:ext cx="5394960" cy="292608"/>
          </a:xfrm>
          <a:prstGeom prst="rect">
            <a:avLst/>
          </a:prstGeom>
          <a:noFill/>
          <a:ln/>
        </p:spPr>
        <p:txBody>
          <a:bodyPr wrap="square" lIns="0" tIns="0" rIns="0" bIns="0" rtlCol="0" anchor="t"/>
          <a:lstStyle/>
          <a:p>
            <a:pPr algn="ctr" indent="0" marL="0">
              <a:buNone/>
            </a:pPr>
            <a:r>
              <a:rPr lang="en-US" sz="1300" b="1" dirty="0">
                <a:solidFill>
                  <a:srgbClr val="0F5C54"/>
                </a:solidFill>
                <a:latin typeface="Calibri" pitchFamily="34" charset="0"/>
                <a:ea typeface="Calibri" pitchFamily="34" charset="-122"/>
                <a:cs typeface="Calibri" pitchFamily="34" charset="-120"/>
              </a:rPr>
              <a:t>Patient portal: bill &amp; access log</a:t>
            </a:r>
            <a:endParaRPr lang="en-US" sz="1300" dirty="0"/>
          </a:p>
        </p:txBody>
      </p:sp>
      <p:sp>
        <p:nvSpPr>
          <p:cNvPr id="16" name="Text 10"/>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A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Technology and quality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Open-source stack, reproducible deployment, automated tests</a:t>
            </a:r>
            <a:endParaRPr lang="en-US" sz="1500" dirty="0"/>
          </a:p>
        </p:txBody>
      </p:sp>
      <p:sp>
        <p:nvSpPr>
          <p:cNvPr id="4" name="Shape 2"/>
          <p:cNvSpPr/>
          <p:nvPr/>
        </p:nvSpPr>
        <p:spPr>
          <a:xfrm>
            <a:off x="548640" y="1554480"/>
            <a:ext cx="6035040" cy="676656"/>
          </a:xfrm>
          <a:prstGeom prst="roundRect">
            <a:avLst>
              <a:gd name="adj" fmla="val 1081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5" name="Text 3"/>
          <p:cNvSpPr txBox="1"/>
          <p:nvPr/>
        </p:nvSpPr>
        <p:spPr>
          <a:xfrm>
            <a:off x="777240" y="1737360"/>
            <a:ext cx="1737360" cy="320040"/>
          </a:xfrm>
          <a:prstGeom prst="rect">
            <a:avLst/>
          </a:prstGeom>
          <a:noFill/>
          <a:ln/>
        </p:spPr>
        <p:txBody>
          <a:bodyPr wrap="square" lIns="0" tIns="0" rIns="0" bIns="0" rtlCol="0" anchor="t"/>
          <a:lstStyle/>
          <a:p>
            <a:pPr indent="0" marL="0">
              <a:buNone/>
            </a:pPr>
            <a:r>
              <a:rPr lang="en-US" sz="1400" b="1" dirty="0">
                <a:solidFill>
                  <a:srgbClr val="0F5C54"/>
                </a:solidFill>
                <a:latin typeface="Calibri" pitchFamily="34" charset="0"/>
                <a:ea typeface="Calibri" pitchFamily="34" charset="-122"/>
                <a:cs typeface="Calibri" pitchFamily="34" charset="-120"/>
              </a:rPr>
              <a:t>Frontend</a:t>
            </a:r>
            <a:endParaRPr lang="en-US" sz="1400" dirty="0"/>
          </a:p>
        </p:txBody>
      </p:sp>
      <p:sp>
        <p:nvSpPr>
          <p:cNvPr id="6" name="Text 4"/>
          <p:cNvSpPr txBox="1"/>
          <p:nvPr/>
        </p:nvSpPr>
        <p:spPr>
          <a:xfrm>
            <a:off x="2560320" y="1737360"/>
            <a:ext cx="3931920" cy="320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React 19 · TypeScript · Vite · Tailwind · Recharts · PWA</a:t>
            </a:r>
            <a:endParaRPr lang="en-US" sz="1300" dirty="0"/>
          </a:p>
        </p:txBody>
      </p:sp>
      <p:sp>
        <p:nvSpPr>
          <p:cNvPr id="7" name="Shape 5"/>
          <p:cNvSpPr/>
          <p:nvPr/>
        </p:nvSpPr>
        <p:spPr>
          <a:xfrm>
            <a:off x="548640" y="2359152"/>
            <a:ext cx="6035040" cy="676656"/>
          </a:xfrm>
          <a:prstGeom prst="roundRect">
            <a:avLst>
              <a:gd name="adj" fmla="val 1081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777240" y="2542032"/>
            <a:ext cx="1737360" cy="320040"/>
          </a:xfrm>
          <a:prstGeom prst="rect">
            <a:avLst/>
          </a:prstGeom>
          <a:noFill/>
          <a:ln/>
        </p:spPr>
        <p:txBody>
          <a:bodyPr wrap="square" lIns="0" tIns="0" rIns="0" bIns="0" rtlCol="0" anchor="t"/>
          <a:lstStyle/>
          <a:p>
            <a:pPr indent="0" marL="0">
              <a:buNone/>
            </a:pPr>
            <a:r>
              <a:rPr lang="en-US" sz="1400" b="1" dirty="0">
                <a:solidFill>
                  <a:srgbClr val="0F5C54"/>
                </a:solidFill>
                <a:latin typeface="Calibri" pitchFamily="34" charset="0"/>
                <a:ea typeface="Calibri" pitchFamily="34" charset="-122"/>
                <a:cs typeface="Calibri" pitchFamily="34" charset="-120"/>
              </a:rPr>
              <a:t>Backend</a:t>
            </a:r>
            <a:endParaRPr lang="en-US" sz="1400" dirty="0"/>
          </a:p>
        </p:txBody>
      </p:sp>
      <p:sp>
        <p:nvSpPr>
          <p:cNvPr id="9" name="Text 7"/>
          <p:cNvSpPr txBox="1"/>
          <p:nvPr/>
        </p:nvSpPr>
        <p:spPr>
          <a:xfrm>
            <a:off x="2560320" y="2542032"/>
            <a:ext cx="3931920" cy="320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Python 3.11 · FastAPI · Pydantic · WebSockets</a:t>
            </a:r>
            <a:endParaRPr lang="en-US" sz="1300" dirty="0"/>
          </a:p>
        </p:txBody>
      </p:sp>
      <p:sp>
        <p:nvSpPr>
          <p:cNvPr id="10" name="Shape 8"/>
          <p:cNvSpPr/>
          <p:nvPr/>
        </p:nvSpPr>
        <p:spPr>
          <a:xfrm>
            <a:off x="548640" y="3163824"/>
            <a:ext cx="6035040" cy="676656"/>
          </a:xfrm>
          <a:prstGeom prst="roundRect">
            <a:avLst>
              <a:gd name="adj" fmla="val 1081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1" name="Text 9"/>
          <p:cNvSpPr txBox="1"/>
          <p:nvPr/>
        </p:nvSpPr>
        <p:spPr>
          <a:xfrm>
            <a:off x="777240" y="3346704"/>
            <a:ext cx="1737360" cy="320040"/>
          </a:xfrm>
          <a:prstGeom prst="rect">
            <a:avLst/>
          </a:prstGeom>
          <a:noFill/>
          <a:ln/>
        </p:spPr>
        <p:txBody>
          <a:bodyPr wrap="square" lIns="0" tIns="0" rIns="0" bIns="0" rtlCol="0" anchor="t"/>
          <a:lstStyle/>
          <a:p>
            <a:pPr indent="0" marL="0">
              <a:buNone/>
            </a:pPr>
            <a:r>
              <a:rPr lang="en-US" sz="1400" b="1" dirty="0">
                <a:solidFill>
                  <a:srgbClr val="0F5C54"/>
                </a:solidFill>
                <a:latin typeface="Calibri" pitchFamily="34" charset="0"/>
                <a:ea typeface="Calibri" pitchFamily="34" charset="-122"/>
                <a:cs typeface="Calibri" pitchFamily="34" charset="-120"/>
              </a:rPr>
              <a:t>AI / optimisation</a:t>
            </a:r>
            <a:endParaRPr lang="en-US" sz="1400" dirty="0"/>
          </a:p>
        </p:txBody>
      </p:sp>
      <p:sp>
        <p:nvSpPr>
          <p:cNvPr id="12" name="Text 10"/>
          <p:cNvSpPr txBox="1"/>
          <p:nvPr/>
        </p:nvSpPr>
        <p:spPr>
          <a:xfrm>
            <a:off x="2560320" y="3346704"/>
            <a:ext cx="3931920" cy="320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scikit-learn · OR-Tools CP-SAT · NumPy · optional Claude</a:t>
            </a:r>
            <a:endParaRPr lang="en-US" sz="1300" dirty="0"/>
          </a:p>
        </p:txBody>
      </p:sp>
      <p:sp>
        <p:nvSpPr>
          <p:cNvPr id="13" name="Shape 11"/>
          <p:cNvSpPr/>
          <p:nvPr/>
        </p:nvSpPr>
        <p:spPr>
          <a:xfrm>
            <a:off x="548640" y="3968496"/>
            <a:ext cx="6035040" cy="676656"/>
          </a:xfrm>
          <a:prstGeom prst="roundRect">
            <a:avLst>
              <a:gd name="adj" fmla="val 1081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4" name="Text 12"/>
          <p:cNvSpPr txBox="1"/>
          <p:nvPr/>
        </p:nvSpPr>
        <p:spPr>
          <a:xfrm>
            <a:off x="777240" y="4151376"/>
            <a:ext cx="1737360" cy="320040"/>
          </a:xfrm>
          <a:prstGeom prst="rect">
            <a:avLst/>
          </a:prstGeom>
          <a:noFill/>
          <a:ln/>
        </p:spPr>
        <p:txBody>
          <a:bodyPr wrap="square" lIns="0" tIns="0" rIns="0" bIns="0" rtlCol="0" anchor="t"/>
          <a:lstStyle/>
          <a:p>
            <a:pPr indent="0" marL="0">
              <a:buNone/>
            </a:pPr>
            <a:r>
              <a:rPr lang="en-US" sz="1400" b="1" dirty="0">
                <a:solidFill>
                  <a:srgbClr val="0F5C54"/>
                </a:solidFill>
                <a:latin typeface="Calibri" pitchFamily="34" charset="0"/>
                <a:ea typeface="Calibri" pitchFamily="34" charset="-122"/>
                <a:cs typeface="Calibri" pitchFamily="34" charset="-120"/>
              </a:rPr>
              <a:t>Data</a:t>
            </a:r>
            <a:endParaRPr lang="en-US" sz="1400" dirty="0"/>
          </a:p>
        </p:txBody>
      </p:sp>
      <p:sp>
        <p:nvSpPr>
          <p:cNvPr id="15" name="Text 13"/>
          <p:cNvSpPr txBox="1"/>
          <p:nvPr/>
        </p:nvSpPr>
        <p:spPr>
          <a:xfrm>
            <a:off x="2560320" y="4151376"/>
            <a:ext cx="3931920" cy="320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SQLAlchemy · SQLite · PostgreSQL</a:t>
            </a:r>
            <a:endParaRPr lang="en-US" sz="1300" dirty="0"/>
          </a:p>
        </p:txBody>
      </p:sp>
      <p:sp>
        <p:nvSpPr>
          <p:cNvPr id="16" name="Shape 14"/>
          <p:cNvSpPr/>
          <p:nvPr/>
        </p:nvSpPr>
        <p:spPr>
          <a:xfrm>
            <a:off x="548640" y="4773168"/>
            <a:ext cx="6035040" cy="676656"/>
          </a:xfrm>
          <a:prstGeom prst="roundRect">
            <a:avLst>
              <a:gd name="adj" fmla="val 1081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17" name="Text 15"/>
          <p:cNvSpPr txBox="1"/>
          <p:nvPr/>
        </p:nvSpPr>
        <p:spPr>
          <a:xfrm>
            <a:off x="777240" y="4956048"/>
            <a:ext cx="1737360" cy="320040"/>
          </a:xfrm>
          <a:prstGeom prst="rect">
            <a:avLst/>
          </a:prstGeom>
          <a:noFill/>
          <a:ln/>
        </p:spPr>
        <p:txBody>
          <a:bodyPr wrap="square" lIns="0" tIns="0" rIns="0" bIns="0" rtlCol="0" anchor="t"/>
          <a:lstStyle/>
          <a:p>
            <a:pPr indent="0" marL="0">
              <a:buNone/>
            </a:pPr>
            <a:r>
              <a:rPr lang="en-US" sz="1400" b="1" dirty="0">
                <a:solidFill>
                  <a:srgbClr val="0F5C54"/>
                </a:solidFill>
                <a:latin typeface="Calibri" pitchFamily="34" charset="0"/>
                <a:ea typeface="Calibri" pitchFamily="34" charset="-122"/>
                <a:cs typeface="Calibri" pitchFamily="34" charset="-120"/>
              </a:rPr>
              <a:t>Security</a:t>
            </a:r>
            <a:endParaRPr lang="en-US" sz="1400" dirty="0"/>
          </a:p>
        </p:txBody>
      </p:sp>
      <p:sp>
        <p:nvSpPr>
          <p:cNvPr id="18" name="Text 16"/>
          <p:cNvSpPr txBox="1"/>
          <p:nvPr/>
        </p:nvSpPr>
        <p:spPr>
          <a:xfrm>
            <a:off x="2560320" y="4956048"/>
            <a:ext cx="3931920" cy="320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JWT · PBKDF2 · RBAC · lock-out · security headers · audit log</a:t>
            </a:r>
            <a:endParaRPr lang="en-US" sz="1300" dirty="0"/>
          </a:p>
        </p:txBody>
      </p:sp>
      <p:sp>
        <p:nvSpPr>
          <p:cNvPr id="19" name="Shape 17"/>
          <p:cNvSpPr/>
          <p:nvPr/>
        </p:nvSpPr>
        <p:spPr>
          <a:xfrm>
            <a:off x="548640" y="5577840"/>
            <a:ext cx="6035040" cy="676656"/>
          </a:xfrm>
          <a:prstGeom prst="roundRect">
            <a:avLst>
              <a:gd name="adj" fmla="val 1081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777240" y="5760720"/>
            <a:ext cx="1737360" cy="320040"/>
          </a:xfrm>
          <a:prstGeom prst="rect">
            <a:avLst/>
          </a:prstGeom>
          <a:noFill/>
          <a:ln/>
        </p:spPr>
        <p:txBody>
          <a:bodyPr wrap="square" lIns="0" tIns="0" rIns="0" bIns="0" rtlCol="0" anchor="t"/>
          <a:lstStyle/>
          <a:p>
            <a:pPr indent="0" marL="0">
              <a:buNone/>
            </a:pPr>
            <a:r>
              <a:rPr lang="en-US" sz="1400" b="1" dirty="0">
                <a:solidFill>
                  <a:srgbClr val="0F5C54"/>
                </a:solidFill>
                <a:latin typeface="Calibri" pitchFamily="34" charset="0"/>
                <a:ea typeface="Calibri" pitchFamily="34" charset="-122"/>
                <a:cs typeface="Calibri" pitchFamily="34" charset="-120"/>
              </a:rPr>
              <a:t>Deployment</a:t>
            </a:r>
            <a:endParaRPr lang="en-US" sz="1400" dirty="0"/>
          </a:p>
        </p:txBody>
      </p:sp>
      <p:sp>
        <p:nvSpPr>
          <p:cNvPr id="21" name="Text 19"/>
          <p:cNvSpPr txBox="1"/>
          <p:nvPr/>
        </p:nvSpPr>
        <p:spPr>
          <a:xfrm>
            <a:off x="2560320" y="5760720"/>
            <a:ext cx="3931920" cy="3200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Docker Compose · Nginx · GitHub Actions CI · one-click start.bat</a:t>
            </a:r>
            <a:endParaRPr lang="en-US" sz="1300" dirty="0"/>
          </a:p>
        </p:txBody>
      </p:sp>
      <p:sp>
        <p:nvSpPr>
          <p:cNvPr id="22" name="Shape 20"/>
          <p:cNvSpPr/>
          <p:nvPr/>
        </p:nvSpPr>
        <p:spPr>
          <a:xfrm>
            <a:off x="6949440" y="1554480"/>
            <a:ext cx="4754880" cy="4754880"/>
          </a:xfrm>
          <a:prstGeom prst="roundRect">
            <a:avLst>
              <a:gd name="adj" fmla="val 1538"/>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23" name="Text 21"/>
          <p:cNvSpPr txBox="1"/>
          <p:nvPr/>
        </p:nvSpPr>
        <p:spPr>
          <a:xfrm>
            <a:off x="7223760" y="1783080"/>
            <a:ext cx="4206240" cy="914400"/>
          </a:xfrm>
          <a:prstGeom prst="rect">
            <a:avLst/>
          </a:prstGeom>
          <a:noFill/>
          <a:ln/>
        </p:spPr>
        <p:txBody>
          <a:bodyPr wrap="square" lIns="0" tIns="0" rIns="0" bIns="0" rtlCol="0" anchor="t"/>
          <a:lstStyle/>
          <a:p>
            <a:pPr indent="0" marL="0">
              <a:buNone/>
            </a:pPr>
            <a:r>
              <a:rPr lang="en-US" sz="4800" b="1" dirty="0">
                <a:solidFill>
                  <a:srgbClr val="0F5C54"/>
                </a:solidFill>
                <a:latin typeface="Cambria" pitchFamily="34" charset="0"/>
                <a:ea typeface="Cambria" pitchFamily="34" charset="-122"/>
                <a:cs typeface="Cambria" pitchFamily="34" charset="-120"/>
              </a:rPr>
              <a:t>55 / 55</a:t>
            </a:r>
            <a:endParaRPr lang="en-US" sz="4800" dirty="0"/>
          </a:p>
        </p:txBody>
      </p:sp>
      <p:sp>
        <p:nvSpPr>
          <p:cNvPr id="24" name="Text 22"/>
          <p:cNvSpPr txBox="1"/>
          <p:nvPr/>
        </p:nvSpPr>
        <p:spPr>
          <a:xfrm>
            <a:off x="7223760" y="2697480"/>
            <a:ext cx="4206240" cy="365760"/>
          </a:xfrm>
          <a:prstGeom prst="rect">
            <a:avLst/>
          </a:prstGeom>
          <a:noFill/>
          <a:ln/>
        </p:spPr>
        <p:txBody>
          <a:bodyPr wrap="square" lIns="0" tIns="0" rIns="0" bIns="0" rtlCol="0" anchor="t"/>
          <a:lstStyle/>
          <a:p>
            <a:pPr indent="0" marL="0">
              <a:buNone/>
            </a:pPr>
            <a:r>
              <a:rPr lang="en-US" sz="1500" dirty="0">
                <a:solidFill>
                  <a:srgbClr val="64748B"/>
                </a:solidFill>
                <a:latin typeface="Calibri" pitchFamily="34" charset="0"/>
                <a:ea typeface="Calibri" pitchFamily="34" charset="-122"/>
                <a:cs typeface="Calibri" pitchFamily="34" charset="-120"/>
              </a:rPr>
              <a:t>automated tests passing</a:t>
            </a:r>
            <a:endParaRPr lang="en-US" sz="1500" dirty="0"/>
          </a:p>
        </p:txBody>
      </p:sp>
      <p:sp>
        <p:nvSpPr>
          <p:cNvPr id="25" name="Text 23"/>
          <p:cNvSpPr txBox="1"/>
          <p:nvPr/>
        </p:nvSpPr>
        <p:spPr>
          <a:xfrm>
            <a:off x="7223760" y="3291840"/>
            <a:ext cx="4297680" cy="2926080"/>
          </a:xfrm>
          <a:prstGeom prst="rect">
            <a:avLst/>
          </a:prstGeom>
          <a:noFill/>
          <a:ln/>
        </p:spPr>
        <p:txBody>
          <a:bodyPr wrap="square" lIns="0" tIns="0" rIns="0" bIns="0" rtlCol="0" anchor="t"/>
          <a:lstStyle/>
          <a:p>
            <a:pPr marL="228600" indent="-2286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Unit tests: NEWS2, triage, NLP, optimisers, queueing, forecasting, readmission, smart alarms</a:t>
            </a:r>
            <a:endParaRPr lang="en-US" sz="1300" dirty="0"/>
          </a:p>
          <a:p>
            <a:pPr marL="228600" indent="-2286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Integration tests: agent workflows, approvals and rollbacks, billing and claims, ambulance pre-arrival, digital twin, copilot, security</a:t>
            </a:r>
            <a:endParaRPr lang="en-US" sz="1300" dirty="0"/>
          </a:p>
          <a:p>
            <a:pPr marL="228600" indent="-2286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GitHub Actions CI: tests + TypeScript type-check + production build on every push</a:t>
            </a:r>
            <a:endParaRPr lang="en-US" sz="1300" dirty="0"/>
          </a:p>
          <a:p>
            <a:pPr marL="228600" indent="-2286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End-to-end scenarios verified in the browser</a:t>
            </a:r>
            <a:endParaRPr lang="en-US" sz="1300" dirty="0"/>
          </a:p>
        </p:txBody>
      </p:sp>
      <p:sp>
        <p:nvSpPr>
          <p:cNvPr id="26" name="Text 24"/>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5C54"/>
                </a:solidFill>
                <a:latin typeface="Cambria" pitchFamily="34" charset="0"/>
                <a:ea typeface="Cambria" pitchFamily="34" charset="-122"/>
                <a:cs typeface="Cambria" pitchFamily="34" charset="-120"/>
              </a:rPr>
              <a:t>Conclusion and future scope</a:t>
            </a:r>
            <a:endParaRPr lang="en-US" sz="3200" dirty="0"/>
          </a:p>
        </p:txBody>
      </p:sp>
      <p:sp>
        <p:nvSpPr>
          <p:cNvPr id="3" name="Shape 1"/>
          <p:cNvSpPr/>
          <p:nvPr/>
        </p:nvSpPr>
        <p:spPr>
          <a:xfrm>
            <a:off x="548640" y="1280160"/>
            <a:ext cx="5486400" cy="3749040"/>
          </a:xfrm>
          <a:prstGeom prst="roundRect">
            <a:avLst>
              <a:gd name="adj" fmla="val 1951"/>
            </a:avLst>
          </a:prstGeom>
          <a:solidFill>
            <a:srgbClr val="CCFBF1"/>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463040"/>
            <a:ext cx="4937760" cy="411480"/>
          </a:xfrm>
          <a:prstGeom prst="rect">
            <a:avLst/>
          </a:prstGeom>
          <a:noFill/>
          <a:ln/>
        </p:spPr>
        <p:txBody>
          <a:bodyPr wrap="square" lIns="0" tIns="0" rIns="0" bIns="0" rtlCol="0" anchor="t"/>
          <a:lstStyle/>
          <a:p>
            <a:pPr indent="0" marL="0">
              <a:buNone/>
            </a:pPr>
            <a:r>
              <a:rPr lang="en-US" sz="1900" b="1" dirty="0">
                <a:solidFill>
                  <a:srgbClr val="0F5C54"/>
                </a:solidFill>
                <a:latin typeface="Calibri" pitchFamily="34" charset="0"/>
                <a:ea typeface="Calibri" pitchFamily="34" charset="-122"/>
                <a:cs typeface="Calibri" pitchFamily="34" charset="-120"/>
              </a:rPr>
              <a:t>What we achieved</a:t>
            </a:r>
            <a:endParaRPr lang="en-US" sz="1900" dirty="0"/>
          </a:p>
        </p:txBody>
      </p:sp>
      <p:sp>
        <p:nvSpPr>
          <p:cNvPr id="5" name="Text 3"/>
          <p:cNvSpPr txBox="1"/>
          <p:nvPr/>
        </p:nvSpPr>
        <p:spPr>
          <a:xfrm>
            <a:off x="822960" y="2011680"/>
            <a:ext cx="5029200" cy="29260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All 12 synopsis modules working end-to-end</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Eleven cooperating agents with explainable recommendations</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Safe by design: risk-tiered human approval, full audit, governance dashboard</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Beyond the synopsis: 108 pre-hospital coordination, billing &amp; PM-JAY claims, digital twin, ICU monitor, copilot, public screens</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Runs offline; one-click start; Docker-ready; CI on every push</a:t>
            </a:r>
            <a:endParaRPr lang="en-US" sz="1500" dirty="0"/>
          </a:p>
        </p:txBody>
      </p:sp>
      <p:sp>
        <p:nvSpPr>
          <p:cNvPr id="6" name="Shape 4"/>
          <p:cNvSpPr/>
          <p:nvPr/>
        </p:nvSpPr>
        <p:spPr>
          <a:xfrm>
            <a:off x="6309360" y="1280160"/>
            <a:ext cx="5394960" cy="3749040"/>
          </a:xfrm>
          <a:prstGeom prst="roundRect">
            <a:avLst>
              <a:gd name="adj" fmla="val 1951"/>
            </a:avLst>
          </a:prstGeom>
          <a:solidFill>
            <a:srgbClr val="FFFFFF"/>
          </a:solidFill>
          <a:ln w="9525">
            <a:solidFill>
              <a:srgbClr val="E2E8F0"/>
            </a:solidFill>
            <a:prstDash val="solid"/>
          </a:ln>
          <a:effectLst>
            <a:outerShdw sx="100000" sy="100000" kx="0" ky="0" algn="bl" rotWithShape="0" blurRad="101600" dist="25400" dir="5400000">
              <a:srgbClr val="000000">
                <a:alpha val="14000"/>
              </a:srgbClr>
            </a:outerShdw>
          </a:effectLst>
        </p:spPr>
      </p:sp>
      <p:sp>
        <p:nvSpPr>
          <p:cNvPr id="7" name="Text 5"/>
          <p:cNvSpPr txBox="1"/>
          <p:nvPr/>
        </p:nvSpPr>
        <p:spPr>
          <a:xfrm>
            <a:off x="6583680" y="1463040"/>
            <a:ext cx="4846320" cy="411480"/>
          </a:xfrm>
          <a:prstGeom prst="rect">
            <a:avLst/>
          </a:prstGeom>
          <a:noFill/>
          <a:ln/>
        </p:spPr>
        <p:txBody>
          <a:bodyPr wrap="square" lIns="0" tIns="0" rIns="0" bIns="0" rtlCol="0" anchor="t"/>
          <a:lstStyle/>
          <a:p>
            <a:pPr indent="0" marL="0">
              <a:buNone/>
            </a:pPr>
            <a:r>
              <a:rPr lang="en-US" sz="1900" b="1" dirty="0">
                <a:solidFill>
                  <a:srgbClr val="0F5C54"/>
                </a:solidFill>
                <a:latin typeface="Calibri" pitchFamily="34" charset="0"/>
                <a:ea typeface="Calibri" pitchFamily="34" charset="-122"/>
                <a:cs typeface="Calibri" pitchFamily="34" charset="-120"/>
              </a:rPr>
              <a:t>Next steps</a:t>
            </a:r>
            <a:endParaRPr lang="en-US" sz="1900" dirty="0"/>
          </a:p>
        </p:txBody>
      </p:sp>
      <p:sp>
        <p:nvSpPr>
          <p:cNvPr id="8" name="Text 6"/>
          <p:cNvSpPr txBox="1"/>
          <p:nvPr/>
        </p:nvSpPr>
        <p:spPr>
          <a:xfrm>
            <a:off x="6583680" y="2011680"/>
            <a:ext cx="4937760" cy="29260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HL7 FHIR / ABDM integration and real PM-JAY claim submission</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IoT smart beds and monitors feeding early warning</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Retrain and recalibrate the models on real hospital data</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Multi-hospital referral coordination</a:t>
            </a:r>
            <a:endParaRPr lang="en-US" sz="1500" dirty="0"/>
          </a:p>
          <a:p>
            <a:pPr marL="228600" indent="-2286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Full Hindi and regional-language interface (copilot already understands Hinglish)</a:t>
            </a:r>
            <a:endParaRPr lang="en-US" sz="1500" dirty="0"/>
          </a:p>
        </p:txBody>
      </p:sp>
      <p:sp>
        <p:nvSpPr>
          <p:cNvPr id="9" name="Shape 7"/>
          <p:cNvSpPr/>
          <p:nvPr/>
        </p:nvSpPr>
        <p:spPr>
          <a:xfrm>
            <a:off x="548640" y="5349240"/>
            <a:ext cx="11155680" cy="914400"/>
          </a:xfrm>
          <a:prstGeom prst="roundRect">
            <a:avLst>
              <a:gd name="adj" fmla="val 8000"/>
            </a:avLst>
          </a:prstGeom>
          <a:solidFill>
            <a:srgbClr val="0B1F24"/>
          </a:solidFill>
          <a:ln w="12700">
            <a:solidFill>
              <a:srgbClr val="0B1F24"/>
            </a:solidFill>
            <a:prstDash val="solid"/>
          </a:ln>
        </p:spPr>
      </p:sp>
      <p:sp>
        <p:nvSpPr>
          <p:cNvPr id="10" name="Text 8"/>
          <p:cNvSpPr txBox="1"/>
          <p:nvPr/>
        </p:nvSpPr>
        <p:spPr>
          <a:xfrm>
            <a:off x="822960" y="5349240"/>
            <a:ext cx="10607040" cy="914400"/>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AI coordinates, optimises and explains — qualified clinicians make the decisions.</a:t>
            </a:r>
            <a:endParaRPr lang="en-US" sz="2200" dirty="0"/>
          </a:p>
        </p:txBody>
      </p:sp>
      <p:sp>
        <p:nvSpPr>
          <p:cNvPr id="11" name="Text 9"/>
          <p:cNvSpPr txBox="1"/>
          <p:nvPr/>
        </p:nvSpPr>
        <p:spPr>
          <a:xfrm>
            <a:off x="11384280" y="6400800"/>
            <a:ext cx="36576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24"/>
        </a:solidFill>
      </p:bgPr>
    </p:bg>
    <p:spTree>
      <p:nvGrpSpPr>
        <p:cNvPr id="1" name=""/>
        <p:cNvGrpSpPr/>
        <p:nvPr/>
      </p:nvGrpSpPr>
      <p:grpSpPr>
        <a:xfrm>
          <a:off x="0" y="0"/>
          <a:ext cx="0" cy="0"/>
          <a:chOff x="0" y="0"/>
          <a:chExt cx="0" cy="0"/>
        </a:xfrm>
      </p:grpSpPr>
      <p:pic>
        <p:nvPicPr>
          <p:cNvPr id="2" name="Image 0" descr="D:\codin\idea lab\frontend\public\icon-512.png">    </p:cNvPr>
          <p:cNvPicPr>
            <a:picLocks noChangeAspect="1"/>
          </p:cNvPicPr>
          <p:nvPr/>
        </p:nvPicPr>
        <p:blipFill>
          <a:blip r:embed="rId1"/>
          <a:stretch>
            <a:fillRect/>
          </a:stretch>
        </p:blipFill>
        <p:spPr>
          <a:xfrm>
            <a:off x="5641848" y="1371600"/>
            <a:ext cx="914400" cy="914400"/>
          </a:xfrm>
          <a:prstGeom prst="rect">
            <a:avLst/>
          </a:prstGeom>
        </p:spPr>
      </p:pic>
      <p:sp>
        <p:nvSpPr>
          <p:cNvPr id="3" name="Text 0"/>
          <p:cNvSpPr txBox="1"/>
          <p:nvPr/>
        </p:nvSpPr>
        <p:spPr>
          <a:xfrm>
            <a:off x="914400" y="2560320"/>
            <a:ext cx="10360152" cy="914400"/>
          </a:xfrm>
          <a:prstGeom prst="rect">
            <a:avLst/>
          </a:prstGeom>
          <a:noFill/>
          <a:ln/>
        </p:spPr>
        <p:txBody>
          <a:bodyPr wrap="square" lIns="0" tIns="0" rIns="0" bIns="0" rtlCol="0" anchor="t"/>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914400" y="3566160"/>
            <a:ext cx="10360152" cy="457200"/>
          </a:xfrm>
          <a:prstGeom prst="rect">
            <a:avLst/>
          </a:prstGeom>
          <a:noFill/>
          <a:ln/>
        </p:spPr>
        <p:txBody>
          <a:bodyPr wrap="square" lIns="0" tIns="0" rIns="0" bIns="0" rtlCol="0" anchor="t"/>
          <a:lstStyle/>
          <a:p>
            <a:pPr algn="ctr" indent="0" marL="0">
              <a:buNone/>
            </a:pPr>
            <a:r>
              <a:rPr lang="en-US" sz="2000" i="1" dirty="0">
                <a:solidFill>
                  <a:srgbClr val="14B8A6"/>
                </a:solidFill>
                <a:latin typeface="Calibri" pitchFamily="34" charset="0"/>
                <a:ea typeface="Calibri" pitchFamily="34" charset="-122"/>
                <a:cs typeface="Calibri" pitchFamily="34" charset="-120"/>
              </a:rPr>
              <a:t>Questions &amp; live demo</a:t>
            </a:r>
            <a:endParaRPr lang="en-US" sz="2000" dirty="0"/>
          </a:p>
        </p:txBody>
      </p:sp>
      <p:sp>
        <p:nvSpPr>
          <p:cNvPr id="5" name="Text 2"/>
          <p:cNvSpPr txBox="1"/>
          <p:nvPr/>
        </p:nvSpPr>
        <p:spPr>
          <a:xfrm>
            <a:off x="914400" y="4754880"/>
            <a:ext cx="10360152" cy="365760"/>
          </a:xfrm>
          <a:prstGeom prst="rect">
            <a:avLst/>
          </a:prstGeom>
          <a:noFill/>
          <a:ln/>
        </p:spPr>
        <p:txBody>
          <a:bodyPr wrap="square" lIns="0" tIns="0" rIns="0" bIns="0" rtlCol="0" anchor="t"/>
          <a:lstStyle/>
          <a:p>
            <a:pPr algn="ctr" indent="0" marL="0">
              <a:buNone/>
            </a:pPr>
            <a:r>
              <a:rPr lang="en-US" sz="1400" dirty="0">
                <a:solidFill>
                  <a:srgbClr val="C9D6D4"/>
                </a:solidFill>
                <a:latin typeface="Calibri" pitchFamily="34" charset="0"/>
                <a:ea typeface="Calibri" pitchFamily="34" charset="-122"/>
                <a:cs typeface="Calibri" pitchFamily="34" charset="-120"/>
              </a:rPr>
              <a:t>Demo login: admin / admin123  ·  doctor / doctor123  ·  nurse / nurse123  ·  patient / patient123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AI Systems for Hospital Management</dc:title>
  <dc:subject>PptxGenJS Presentation</dc:subject>
  <dc:creator>MedOrchestra project team</dc:creator>
  <cp:lastModifiedBy>MedOrchestra project team</cp:lastModifiedBy>
  <cp:revision>1</cp:revision>
  <dcterms:created xsi:type="dcterms:W3CDTF">2026-09-15T23:40:51Z</dcterms:created>
  <dcterms:modified xsi:type="dcterms:W3CDTF">2026-09-15T23:40:51Z</dcterms:modified>
</cp:coreProperties>
</file>