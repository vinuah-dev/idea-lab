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188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project: MedOrchestra, a working multi-agent AI platform for hospital operations built from our synopsis — nine specialised agents coordinated by an orchestrator, with humans approving every critical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problems from the synopsis. Emphasise the core problem: coordination across departments, with human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existing approaches with ours; the gap is combining coordination, optimisation, early warning and human oversight.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one big model we use eleven agents (eight from the synopsis plus Notification, Billing &amp; Insurance and Ambulance Dispatch). They post findings on a shared blackboard and message each other with FIPA performatives such as PROPOSE and REFUSE.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objectives condensed from the ten in the synopsis, with measurable targets and what we achieved.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layered architecture from the synopsis. Right: the methodology as input → processing → AI → output. Every request follows the ten-step pipeline (intake, NLP, workflow, agent selection, coordination, constraints, recommendations, human approval, execution, logging).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details. The image shows the AI Agent Console running the synopsis example; mention the 38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measured by our evaluation script on the synthetic 108-bed hospital. They show correctness and feasibility; clinical effectiveness would need a real hospital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innovations and the impact; list what we are submitting and where the project can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Conclude, mention the limitation honestly, then move 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7" y="177206"/>
            <a:ext cx="1862826" cy="188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197894"/>
            <a:ext cx="2232660" cy="707886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072A52"/>
                </a:solidFill>
                <a:latin typeface="+mj-lt"/>
              </a:rPr>
              <a:t>RAMDEOBABA</a:t>
            </a:r>
            <a:br>
              <a:rPr sz="2000" dirty="0">
                <a:latin typeface="+mj-lt"/>
              </a:rPr>
            </a:br>
            <a:r>
              <a:rPr sz="2000" dirty="0">
                <a:solidFill/>
                <a:latin typeface="+mj-lt"/>
              </a:rPr>
              <a:t>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21354"/>
            <a:ext cx="1965960" cy="150810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 dirty="0">
                <a:solidFill>
                  <a:srgbClr val="072A52"/>
                </a:solidFill>
                <a:latin typeface="+mj-lt"/>
              </a:rPr>
              <a:t>Idea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868680"/>
            <a:ext cx="7955279" cy="58477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444752"/>
            <a:ext cx="7863840" cy="914400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1900" b="0" dirty="0">
                <a:solidFill>
                  <a:srgbClr val="EF6019"/>
                </a:solidFill>
                <a:latin typeface="+mj-lt"/>
              </a:rPr>
              <a:t>Multi-Agent AI Systems for Hospital Resource Optimization, Clinical Workflow Automation and Patient Care Coordination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2395728"/>
            <a:ext cx="7863840" cy="3200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60825"/>
            <a:ext cx="7955279" cy="273320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6562878"/>
            <a:ext cx="4236415" cy="273320"/>
          </a:xfrm>
          <a:prstGeom prst="rect">
            <a:avLst/>
          </a:prstGeom>
          <a:solidFill>
            <a:srgbClr val="EF6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9B445B-D27F-87EF-AD8D-FF266BEF24E0}"/>
              </a:ext>
            </a:extLst>
          </p:cNvPr>
          <p:cNvSpPr txBox="1"/>
          <p:nvPr/>
        </p:nvSpPr>
        <p:spPr>
          <a:xfrm>
            <a:off x="397764" y="4675960"/>
            <a:ext cx="1965960" cy="830997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 dirty="0">
                <a:solidFill>
                  <a:srgbClr val="072A52"/>
                </a:solidFill>
                <a:latin typeface="+mj-lt"/>
              </a:rPr>
              <a:t>COURSE CODE</a:t>
            </a:r>
            <a:endParaRPr sz="2400" dirty="0">
              <a:solidFill/>
              <a:latin typeface="+mj-lt"/>
            </a:endParaRPr>
          </a:p>
          <a:p>
            <a:pPr algn="ctr"/>
            <a:r>
              <a:rPr sz="1400">
                <a:solidFill>
                  <a:srgbClr val="072A52"/>
                </a:solidFill>
              </a:rPr>
              <a:t>________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2B9AAD-1625-D059-FD92-B382EE9652A5}"/>
              </a:ext>
            </a:extLst>
          </p:cNvPr>
          <p:cNvCxnSpPr>
            <a:cxnSpLocks/>
          </p:cNvCxnSpPr>
          <p:nvPr/>
        </p:nvCxnSpPr>
        <p:spPr>
          <a:xfrm>
            <a:off x="2657474" y="64008"/>
            <a:ext cx="0" cy="6456664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273552" y="25420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72A52"/>
                </a:solidFill>
              </a:rPr>
              <a:t>MedOrchestra</a:t>
            </a:r>
            <a:r>
              <a:rPr sz="1400" b="0" i="0">
                <a:solidFill>
                  <a:srgbClr val="556070"/>
                </a:solidFill>
              </a:rPr>
              <a:t>  —  Multi-Agent Hospital Intelligence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73552" y="3154680"/>
            <a:ext cx="3566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72A52"/>
                </a:solidFill>
              </a:rPr>
              <a:t>Team members &amp; roll numbers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</a:rPr>
              <a:t>________________  (Roll No. ______)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</a:rPr>
              <a:t>________________  (Roll No. ______)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72A52"/>
                </a:solidFill>
              </a:rPr>
              <a:t>Guide / Mentor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</a:rPr>
              <a:t>________________________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72A52"/>
                </a:solidFill>
              </a:rPr>
              <a:t>Department / School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</a:rPr>
              <a:t>________________________</a:t>
            </a:r>
          </a:p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72A52"/>
                </a:solidFill>
              </a:rPr>
              <a:t>Academic year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F2937"/>
                </a:solidFill>
              </a:rPr>
              <a:t>2026 – 27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66556" y="3063240"/>
            <a:ext cx="4703527" cy="3337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c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276" y="3108960"/>
            <a:ext cx="4612087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83960"/>
            <a:ext cx="1246632" cy="1258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002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14400" y="1801368"/>
            <a:ext cx="457200" cy="45720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28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72A52"/>
                </a:solidFill>
                <a:latin typeface="+mj-lt"/>
              </a:rPr>
              <a:t>What problem are we addressing?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58568"/>
            <a:ext cx="4389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</a:rPr>
              <a:t>Beds, ICU units, operation theatres, staff, diagnostics and pharmacy are coordinated through disconnected systems, phone calls and spreadsheets — so resources sit idle while patients wait.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0020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92240" y="1801368"/>
            <a:ext cx="457200" cy="45720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599" y="18288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72A52"/>
                </a:solidFill>
                <a:latin typeface="+mj-lt"/>
              </a:rPr>
              <a:t>Who is affected?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2258568"/>
            <a:ext cx="4389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</a:rPr>
              <a:t>Patients (delays, late escalation), doctors and nurses (hours of coordination work), and administrators (no single, real-time view of hospital capacity).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14400" y="3813048"/>
            <a:ext cx="457200" cy="457200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40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72A52"/>
                </a:solidFill>
                <a:latin typeface="+mj-lt"/>
              </a:rPr>
              <a:t>Current 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70248"/>
            <a:ext cx="4389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</a:rPr>
              <a:t>Manual bed and staff allocation · long OPD queues · slow emergency mobilisation · deteriorating ward patients noticed late · no demand forecasting · decisions without a recorded rationale.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611880"/>
            <a:ext cx="5349240" cy="178308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92240" y="3813048"/>
            <a:ext cx="457200" cy="45720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599" y="3840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72A52"/>
                </a:solidFill>
                <a:latin typeface="+mj-lt"/>
              </a:rPr>
              <a:t>Why is the problem important?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599" y="4270248"/>
            <a:ext cx="4389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</a:rPr>
              <a:t>In emergencies minutes decide outcomes; ICU beds and theatres are the costliest resources; clinicians’ time should go to care — and any AI used must stay safe, explainable and accountable.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10927080" cy="731520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400" y="5669280"/>
            <a:ext cx="10561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B085"/>
                </a:solidFill>
              </a:rPr>
              <a:t>Core problem: </a:t>
            </a:r>
            <a:r>
              <a:rPr sz="1350" b="0" i="0">
                <a:solidFill>
                  <a:srgbClr val="FFFFFF"/>
                </a:solidFill>
              </a:rPr>
              <a:t>an intelligent, coordinated system is needed that optimises resources and automates workflows through specialised AI agents — while qualified professionals keep control of critical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EXISTING SOLUTION / LITERATURE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82879"/>
            <a:ext cx="1246632" cy="12585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463040"/>
            <a:ext cx="338328" cy="384048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338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1463040"/>
            <a:ext cx="2852928" cy="384048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1463040"/>
            <a:ext cx="28529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</a:rPr>
              <a:t>EXISTING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463040"/>
            <a:ext cx="3355848" cy="384048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51960" y="1463040"/>
            <a:ext cx="33558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813048" cy="384048"/>
          </a:xfrm>
          <a:prstGeom prst="roundRect">
            <a:avLst>
              <a:gd name="adj" fmla="val 12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1463040"/>
            <a:ext cx="3813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</a:rPr>
              <a:t>OUR PROPOSED APPROACH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96596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04672" y="2176272"/>
            <a:ext cx="438912" cy="438912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057400"/>
            <a:ext cx="27889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72A52"/>
                </a:solidFill>
              </a:rPr>
              <a:t>Hospital information systems (HIS / EHR modules)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05740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Departmental silos; bed boards updated by hand; no optimisation or cross-department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057400"/>
            <a:ext cx="3703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One data model for patients, resources and workflows, coordinated by an AI orchestrator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92608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04672" y="3136392"/>
            <a:ext cx="438912" cy="438912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017520"/>
            <a:ext cx="27889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72A52"/>
                </a:solidFill>
              </a:rPr>
              <a:t>Stand-alone scheduling / OR-planning tools [3]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301752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Solve one problem (e.g. roster or theatre list) in isolation,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3017520"/>
            <a:ext cx="3703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Agents share a blackboard; CP-SAT optimises beds, staff and theatres against live demand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8620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04672" y="4096512"/>
            <a:ext cx="438912" cy="438912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977639"/>
            <a:ext cx="27889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72A52"/>
                </a:solidFill>
              </a:rPr>
              <a:t>Paper NEWS2 charts &amp; triage protocols [2]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977639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Manual scoring; late escalation; not linked to bed or ICU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6408" y="3977639"/>
            <a:ext cx="3703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Every observation NEWS2-scored; score ≥ 7 triggers alerts and an ICU-transfer proposal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04672" y="5056632"/>
            <a:ext cx="438912" cy="438912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937760"/>
            <a:ext cx="27889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72A52"/>
                </a:solidFill>
              </a:rPr>
              <a:t>Single AI model / chatbot assistants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4937760"/>
            <a:ext cx="32918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Opaque, hard to validate, unsafe to act on clinical decisions [4]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4937760"/>
            <a:ext cx="3703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Nine explainable specialised agents + human-in-the-loop approval and audit trail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52160"/>
            <a:ext cx="10927080" cy="640080"/>
          </a:xfrm>
          <a:prstGeom prst="roundRect">
            <a:avLst>
              <a:gd name="adj" fmla="val 10000"/>
            </a:avLst>
          </a:prstGeom>
          <a:solidFill>
            <a:srgbClr val="FFF1E8"/>
          </a:solidFill>
          <a:ln w="9525">
            <a:solidFill>
              <a:srgbClr val="EF6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4400" y="58521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 i="0">
                <a:solidFill>
                  <a:srgbClr val="EF6019"/>
                </a:solidFill>
              </a:rPr>
              <a:t>Research gap: </a:t>
            </a:r>
            <a:r>
              <a:rPr sz="1250" b="0" i="0">
                <a:solidFill>
                  <a:srgbClr val="1F2937"/>
                </a:solidFill>
              </a:rPr>
              <a:t>no system combines multi-agent coordination, constraint optimisation, early warning and human oversight in one explainable workflow [1].</a:t>
            </a:r>
          </a:p>
          <a:p>
            <a:pPr algn="l">
              <a:spcAft>
                <a:spcPts val="100"/>
              </a:spcAft>
            </a:pPr>
            <a:r>
              <a:rPr sz="950" b="0" i="0">
                <a:solidFill>
                  <a:srgbClr val="556070"/>
                </a:solidFill>
              </a:rPr>
              <a:t>[1] Wooldridge 2009 · [2] RCP NEWS2 2017 · [3] Cardoen et al. 2010 · [4] WHO 2021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79"/>
            <a:ext cx="1328928" cy="134162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77240" y="1399032"/>
            <a:ext cx="438912" cy="438912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7160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  <a:latin typeface="+mj-lt"/>
              </a:rPr>
              <a:t>Project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00784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MedOrchestra — a hospital platform where staff describe a need in plain language and AI agents coordinate the response.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395727"/>
            <a:ext cx="438912" cy="438912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68296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  <a:latin typeface="+mj-lt"/>
              </a:rPr>
              <a:t>Proposed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79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A central orchestrator understands the request (English or Hinglish), plans a workflow and dispatches eleven specialised agents that share findings and negotiate over beds, staff, theatres, tests, ambulances and billing.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392424"/>
            <a:ext cx="438912" cy="438912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64992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  <a:latin typeface="+mj-lt"/>
              </a:rPr>
              <a:t>Key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94176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Explainable recommendations with factor scores, constraint optimisation (OR-Tools CP-SAT), NEWS2-driven escalation and a configurable human-in-the-loop approval gate.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389120"/>
            <a:ext cx="438912" cy="438912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6168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  <a:latin typeface="+mj-lt"/>
              </a:rPr>
              <a:t>Beyond the hospital walls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90872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108 ambulance dispatch with an emergency pre-alert during transport, automatic billing with PM-JAY packages, and a digital twin that answers capacity what-ifs before they happen.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385816"/>
            <a:ext cx="438912" cy="438912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58384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  <a:latin typeface="+mj-lt"/>
              </a:rPr>
              <a:t>Expected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87568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Faster emergency coordination, shorter waits, better bed/theatre utilisation, earlier escalation and less administrative work — with every decision audited.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052560" y="2258568"/>
            <a:ext cx="0" cy="1901952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052560" y="2560496"/>
            <a:ext cx="1196355" cy="1600024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052560" y="3370420"/>
            <a:ext cx="2012877" cy="790100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4160520"/>
            <a:ext cx="2190324" cy="270675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52560" y="4160520"/>
            <a:ext cx="1672358" cy="1245513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52560" y="4160520"/>
            <a:ext cx="623431" cy="1824909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429128" y="4160520"/>
            <a:ext cx="623432" cy="1824909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380201" y="4160520"/>
            <a:ext cx="1672359" cy="1245513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862235" y="4160520"/>
            <a:ext cx="2190325" cy="270675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7039682" y="3370420"/>
            <a:ext cx="2012878" cy="790100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7856204" y="2560496"/>
            <a:ext cx="1196356" cy="1600024"/>
          </a:xfrm>
          <a:prstGeom prst="line">
            <a:avLst/>
          </a:prstGeom>
          <a:ln w="15875">
            <a:solidFill>
              <a:srgbClr val="9FB3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83880" y="3291839"/>
            <a:ext cx="1737360" cy="1737360"/>
          </a:xfrm>
          <a:prstGeom prst="ellipse">
            <a:avLst/>
          </a:prstGeom>
          <a:solidFill>
            <a:srgbClr val="072A5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83880" y="3291839"/>
            <a:ext cx="17373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AI</a:t>
            </a:r>
          </a:p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94192" y="2039111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394192" y="2039111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Bed Mgmt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90547" y="2341040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590547" y="2341040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Appointments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07069" y="3150964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407069" y="3150964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Staff Scheduling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84516" y="4211739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584516" y="4211739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Diagnostics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66550" y="5186577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066550" y="5186577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Pharmacy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17623" y="5765973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017623" y="5765973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Patient Care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0760" y="5765973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FFF1E8"/>
          </a:solidFill>
          <a:ln w="9525">
            <a:solidFill>
              <a:srgbClr val="EF6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770760" y="5765973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Emergency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21833" y="5186577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721833" y="5186577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Resource Optimizer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03867" y="4211739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203867" y="4211739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Billing &amp; Insurance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81314" y="3150964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FFF1E8"/>
          </a:solidFill>
          <a:ln w="9525">
            <a:solidFill>
              <a:srgbClr val="EF6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381314" y="3150964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Ambulance 108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97836" y="2341040"/>
            <a:ext cx="1316736" cy="438912"/>
          </a:xfrm>
          <a:prstGeom prst="roundRect">
            <a:avLst>
              <a:gd name="adj" fmla="val 18000"/>
            </a:avLst>
          </a:prstGeom>
          <a:solidFill>
            <a:srgbClr val="E9EFF7"/>
          </a:solidFill>
          <a:ln w="9525">
            <a:solidFill>
              <a:srgbClr val="07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197836" y="2341040"/>
            <a:ext cx="13167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072A52"/>
                </a:solidFill>
              </a:rPr>
              <a:t>Notification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6172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EF6019"/>
                </a:solidFill>
              </a:rPr>
              <a:t>INNOVATION: ELEVEN COOPERATING, EXPLAINABLE AGENTS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06319"/>
            <a:ext cx="1383486" cy="13967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417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F6019"/>
                </a:solidFill>
                <a:latin typeface="+mj-l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3560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72A52"/>
                </a:solidFill>
              </a:rPr>
              <a:t>Multi-agent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64792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Central orchestrator + eleven specialised agents on one patient / resource / workflow / finance data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134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F6019"/>
                </a:solidFill>
                <a:latin typeface="+mj-l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331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72A52"/>
                </a:solidFill>
              </a:rPr>
              <a:t>Optimise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60904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Allocate beds, ICU, staff, theatres and equipment with constraint optimisation and demand forecasting.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F6019"/>
                </a:solidFill>
                <a:latin typeface="+mj-l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278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72A52"/>
                </a:solidFill>
              </a:rPr>
              <a:t>Automate &amp; coordinate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5701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Appointments, queues, diagnostics, pharmacy, emergency response, notifications and care pathways.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EF6019"/>
                </a:solidFill>
                <a:latin typeface="+mj-lt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2394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072A52"/>
                </a:solidFill>
              </a:rPr>
              <a:t>Keep humans 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453128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Explainable recommendations, role-based approval, audit trail and a governance dashboard with model cards.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51480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72A52"/>
                </a:solidFill>
              </a:rPr>
              <a:t>EXPECTED MEASURABLE TARGETS  →  ACHIEVED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F6019"/>
                </a:solidFill>
              </a:rPr>
              <a:t>✓ </a:t>
            </a:r>
            <a:r>
              <a:rPr sz="1200" b="0" i="0">
                <a:solidFill>
                  <a:srgbClr val="1F2937"/>
                </a:solidFill>
              </a:rPr>
              <a:t>Intent accuracy ≥ 85%: </a:t>
            </a:r>
            <a:r>
              <a:rPr sz="1200" b="1" i="0">
                <a:solidFill>
                  <a:srgbClr val="072A52"/>
                </a:solidFill>
              </a:rPr>
              <a:t>95.8%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F6019"/>
                </a:solidFill>
              </a:rPr>
              <a:t>✓ </a:t>
            </a:r>
            <a:r>
              <a:rPr sz="1200" b="0" i="0">
                <a:solidFill>
                  <a:srgbClr val="1F2937"/>
                </a:solidFill>
              </a:rPr>
              <a:t>Occupancy forecast MAPE &lt; 5%: </a:t>
            </a:r>
            <a:r>
              <a:rPr sz="1200" b="1" i="0">
                <a:solidFill>
                  <a:srgbClr val="072A52"/>
                </a:solidFill>
              </a:rPr>
              <a:t>3.07%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925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F6019"/>
                </a:solidFill>
              </a:rPr>
              <a:t>✓ </a:t>
            </a:r>
            <a:r>
              <a:rPr sz="1200" b="0" i="0">
                <a:solidFill>
                  <a:srgbClr val="1F2937"/>
                </a:solidFill>
              </a:rPr>
              <a:t>Optimal roster &lt; 5 s: </a:t>
            </a:r>
            <a:r>
              <a:rPr sz="1200" b="1" i="0">
                <a:solidFill>
                  <a:srgbClr val="072A52"/>
                </a:solidFill>
              </a:rPr>
              <a:t>1.1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9253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F6019"/>
                </a:solidFill>
              </a:rPr>
              <a:t>✓ </a:t>
            </a:r>
            <a:r>
              <a:rPr sz="1200" b="0" i="0">
                <a:solidFill>
                  <a:srgbClr val="1F2937"/>
                </a:solidFill>
              </a:rPr>
              <a:t>Critical actions human-approved: </a:t>
            </a:r>
            <a:r>
              <a:rPr sz="1200" b="1" i="0">
                <a:solidFill>
                  <a:srgbClr val="072A52"/>
                </a:solidFill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5257800"/>
            <a:ext cx="1078992" cy="1097280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086600" y="5367528"/>
            <a:ext cx="1078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824728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7031" y="4325112"/>
            <a:ext cx="1078992" cy="2029967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57031" y="4434840"/>
            <a:ext cx="1078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4892040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Optimise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27464" y="3392424"/>
            <a:ext cx="1078992" cy="2962656"/>
          </a:xfrm>
          <a:prstGeom prst="rect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27464" y="3502152"/>
            <a:ext cx="1078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3184" y="3959352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Automate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97896" y="2459736"/>
            <a:ext cx="1078992" cy="3895344"/>
          </a:xfrm>
          <a:prstGeom prst="rect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597896" y="2569464"/>
            <a:ext cx="10789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+mj-lt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43616" y="3026664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Human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24828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</a:rPr>
              <a:t>SYSTEM ARCHITECTURE /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182880"/>
            <a:ext cx="1418548" cy="143210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5113" y="1371600"/>
            <a:ext cx="5473533" cy="5120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ig_arch_rb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33" y="1417320"/>
            <a:ext cx="5382093" cy="5029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12280" y="17830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72A52"/>
                </a:solidFill>
              </a:rPr>
              <a:t>INPUT → PROCESSING → AI / ALGORITHM →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148840"/>
            <a:ext cx="1417320" cy="749808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12280" y="2148840"/>
            <a:ext cx="14173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2148840"/>
            <a:ext cx="3355848" cy="749808"/>
          </a:xfrm>
          <a:prstGeom prst="roundRect">
            <a:avLst>
              <a:gd name="adj" fmla="val 10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94192" y="2185416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</a:rPr>
              <a:t>Natural-language requests · ER registrations · bedside vitals · bookings · live hospital data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7406640" y="2916936"/>
            <a:ext cx="228600" cy="201168"/>
          </a:xfrm>
          <a:prstGeom prst="downArrow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12280" y="3136392"/>
            <a:ext cx="1417320" cy="749808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12280" y="3136392"/>
            <a:ext cx="14173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3136392"/>
            <a:ext cx="3355848" cy="749808"/>
          </a:xfrm>
          <a:prstGeom prst="roundRect">
            <a:avLst>
              <a:gd name="adj" fmla="val 10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94192" y="3172968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</a:rPr>
              <a:t>NLP intents &amp; entities (TF-IDF + LR / Claude) → planner builds a dependency DAG of agent steps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406640" y="3904488"/>
            <a:ext cx="228600" cy="201168"/>
          </a:xfrm>
          <a:prstGeom prst="downArrow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4123944"/>
            <a:ext cx="1417320" cy="749808"/>
          </a:xfrm>
          <a:prstGeom prst="roundRect">
            <a:avLst>
              <a:gd name="adj" fmla="val 10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12280" y="4123944"/>
            <a:ext cx="14173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AI / ALGORITHM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2752" y="4123944"/>
            <a:ext cx="3355848" cy="749808"/>
          </a:xfrm>
          <a:prstGeom prst="roundRect">
            <a:avLst>
              <a:gd name="adj" fmla="val 10000"/>
            </a:avLst>
          </a:prstGeom>
          <a:solidFill>
            <a:srgbClr val="FFF1E8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94192" y="4160520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</a:rPr>
              <a:t>9 agents with CP-SAT, NEWS2, M/M/c queueing, Holt-Winters, Gradient Boosting; conflict resolution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406640" y="4892040"/>
            <a:ext cx="228600" cy="201168"/>
          </a:xfrm>
          <a:prstGeom prst="downArrow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12280" y="5111496"/>
            <a:ext cx="1417320" cy="749808"/>
          </a:xfrm>
          <a:prstGeom prst="roundRect">
            <a:avLst>
              <a:gd name="adj" fmla="val 10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12280" y="5111496"/>
            <a:ext cx="14173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5111496"/>
            <a:ext cx="3355848" cy="749808"/>
          </a:xfrm>
          <a:prstGeom prst="roundRect">
            <a:avLst>
              <a:gd name="adj" fmla="val 10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94192" y="5148072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</a:rPr>
              <a:t>Explainable recommendations · safe actions auto-executed · approvals for critical ones · alerts &amp; 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61447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72A52"/>
                </a:solidFill>
              </a:rPr>
              <a:t>Components: </a:t>
            </a:r>
            <a:r>
              <a:rPr sz="1050" b="0" i="0">
                <a:solidFill>
                  <a:srgbClr val="556070"/>
                </a:solidFill>
              </a:rPr>
              <a:t>software-only — FastAPI · React PWA · SQLite / PostgreSQL · WebSockets (no special hardware)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300" y="182879"/>
            <a:ext cx="1526540" cy="154112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31520" y="1435608"/>
            <a:ext cx="411480" cy="41148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417320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</a:rPr>
              <a:t>Technologies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746504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Python 3.11 · FastAPI · SQLAlchemy · React 19 + TypeScript · Tailwind · Recharts · WebSockets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23160"/>
            <a:ext cx="411480" cy="41148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404872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</a:rPr>
              <a:t>Hardware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734056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None required — runs on any laptop / server; installable PWA for phones and tablets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410712"/>
            <a:ext cx="411480" cy="41148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392424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</a:rPr>
              <a:t>Software /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721608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SQLite (dev) / PostgreSQL (Docker) · OR-Tools · scikit-learn · NumPy · pytest · Docker Compose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398264"/>
            <a:ext cx="411480" cy="411480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379976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</a:rPr>
              <a:t>Algorithms /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70916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NEWS2 triage · CP-SAT bed, roster &amp; theatre optimisation · M/M/c queueing · Holt-Winters forecasting · Gradient-Boosting length of stay · LACE readmission risk · Monte-Carlo digital twin · TF-IDF + logistic-regression NLP with Hinglish normalisation (optional Claude)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385816"/>
            <a:ext cx="411480" cy="41148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367528"/>
            <a:ext cx="49834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72A52"/>
                </a:solidFill>
              </a:rPr>
              <a:t>Prototype 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696712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</a:rPr>
              <a:t>29 screens for 7 roles + public TV display &amp; kiosk · 11 agents + orchestrator · live simulator · 55 automated tests passing with GitHub Actions 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4813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F6019"/>
                </a:solidFill>
              </a:rPr>
              <a:t>PROTOTYPE / SYSTEM IMAGE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1595" y="1764792"/>
            <a:ext cx="4710528" cy="4434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c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315" y="1810512"/>
            <a:ext cx="4619088" cy="4343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75120" y="621792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56070"/>
                </a:solidFill>
              </a:rPr>
              <a:t>AI Agent Console — live agent network, trace and plan for the ICU-admission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RESULTS / 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00" y="147467"/>
            <a:ext cx="1603603" cy="1618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3258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F6019"/>
                </a:solidFill>
              </a:rPr>
              <a:t>SCREENSHOTS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004" y="1600200"/>
            <a:ext cx="320947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24" y="1645920"/>
            <a:ext cx="311803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38862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072A52"/>
                </a:solidFill>
              </a:rPr>
              <a:t>Command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066" y="1600200"/>
            <a:ext cx="3101122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_ambu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786" y="1645920"/>
            <a:ext cx="3009682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07407" y="38862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072A52"/>
                </a:solidFill>
              </a:rPr>
              <a:t>108 dispatch &amp; pre-arrival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10244" y="1600200"/>
            <a:ext cx="2066544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_tw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5964" y="1645920"/>
            <a:ext cx="1975104" cy="2194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83296" y="38862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072A52"/>
                </a:solidFill>
              </a:rPr>
              <a:t>Digital twin what-if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15968"/>
            <a:ext cx="3520440" cy="987552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4425696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6019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72A52"/>
                </a:solidFill>
                <a:latin typeface="+mj-lt"/>
              </a:rPr>
              <a:t>95.8%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64607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</a:rPr>
              <a:t>intent accuracy held out (74% cross-validated)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4315968"/>
            <a:ext cx="3520440" cy="987552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90288" y="4425696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6019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7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72A52"/>
                </a:solidFill>
                <a:latin typeface="+mj-lt"/>
              </a:rPr>
              <a:t>3.07%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7" y="4864607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</a:rPr>
              <a:t>bed-occupancy forecast MAPE (baseline 4.14%)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4315968"/>
            <a:ext cx="3520440" cy="987552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66175" y="4425696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6019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6216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72A52"/>
                </a:solidFill>
                <a:latin typeface="+mj-lt"/>
              </a:rPr>
              <a:t>−21%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6216" y="4864607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</a:rPr>
              <a:t>length-of-stay error vs baseline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431536"/>
            <a:ext cx="3520440" cy="987552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" y="554126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6019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5046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72A52"/>
                </a:solidFill>
                <a:latin typeface="+mj-lt"/>
              </a:rPr>
              <a:t>75→0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980175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</a:rPr>
              <a:t>theatre overtime (min) after CP-SAT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7407" y="5431536"/>
            <a:ext cx="3520440" cy="987552"/>
          </a:xfrm>
          <a:prstGeom prst="roundRect">
            <a:avLst>
              <a:gd name="adj" fmla="val 8000"/>
            </a:avLst>
          </a:prstGeom>
          <a:solidFill>
            <a:srgbClr val="FFF1E8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90288" y="554126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6019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0327" y="55046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72A52"/>
                </a:solidFill>
                <a:latin typeface="+mj-lt"/>
              </a:rPr>
              <a:t>−56%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7" y="5980175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</a:rPr>
              <a:t>ED pressure from the twin's best lever (defer elective admissions)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5431536"/>
            <a:ext cx="3520440" cy="987552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66175" y="554126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F6019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6216" y="55046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72A52"/>
                </a:solidFill>
                <a:latin typeface="+mj-lt"/>
              </a:rPr>
              <a:t>55 / 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216" y="5980175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</a:rPr>
              <a:t>automated tests passing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72A52"/>
                </a:solidFill>
                <a:latin typeface="+mj-lt"/>
              </a:rPr>
              <a:t>INNOVATION, IMPACT</a:t>
            </a:r>
            <a:r>
              <a:rPr lang="en-IN" sz="2800" b="1" dirty="0">
                <a:solidFill>
                  <a:srgbClr val="072A52"/>
                </a:solidFill>
                <a:latin typeface="+mj-lt"/>
              </a:rPr>
              <a:t>, DELIVERABLES </a:t>
            </a:r>
            <a:r>
              <a:rPr sz="2800" b="1" dirty="0">
                <a:solidFill>
                  <a:srgbClr val="072A52"/>
                </a:solidFill>
                <a:latin typeface="+mj-lt"/>
              </a:rPr>
              <a:t>&amp; 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0" y="182879"/>
            <a:ext cx="1450340" cy="146419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1691640"/>
            <a:ext cx="10927080" cy="1051560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96112" y="1947672"/>
            <a:ext cx="548640" cy="548640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8308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72A52"/>
                </a:solidFill>
                <a:latin typeface="+mj-lt"/>
              </a:rP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783080"/>
            <a:ext cx="7818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Explainable multi-agent orchestration · pre-arrival ambulance coordination that holds a bay during transport · Monte-Carlo digital twin that recommends the best intervention · Hinglish copilot · configurable autonomy · CP-SAT for beds, rosters and theatres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9270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96112" y="3136392"/>
            <a:ext cx="548640" cy="54864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7180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72A52"/>
                </a:solidFill>
                <a:latin typeface="+mj-lt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971800"/>
            <a:ext cx="7818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Faster emergency mobilisation and door-to-bay time · shorter OPD waits · theatre overtime removed · earlier escalation · no missed charges and cashless PM-JAY claims · capacity planned before the surge · accountable AI with a governance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10927080" cy="1051560"/>
          </a:xfrm>
          <a:prstGeom prst="roundRect">
            <a:avLst>
              <a:gd name="adj" fmla="val 8000"/>
            </a:avLst>
          </a:prstGeom>
          <a:solidFill>
            <a:srgbClr val="E9EFF7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96112" y="4325112"/>
            <a:ext cx="548640" cy="54864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16052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72A52"/>
                </a:solidFill>
                <a:latin typeface="+mj-lt"/>
              </a:rPr>
              <a:t>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160520"/>
            <a:ext cx="7818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Working web app + PWA (29 screens, 7 roles, public display &amp; kiosk) · FastAPI backend with 11 agents · 55 automated tests + CI · project report · architecture docs &amp; demo script · Docker deployment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109270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96112" y="5513832"/>
            <a:ext cx="548640" cy="548640"/>
          </a:xfrm>
          <a:prstGeom prst="ellipse">
            <a:avLst/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49240"/>
            <a:ext cx="2103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72A52"/>
                </a:solidFill>
                <a:latin typeface="+mj-lt"/>
              </a:rPr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349240"/>
            <a:ext cx="78181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</a:rPr>
              <a:t>HL7 FHIR / ABDM integration and real PM-JAY claim submission · IoT smart beds feeding the monitor · retraining and recalibration on real hospital data · multi-hospital referral network · full Hindi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CONCLUSION &amp;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344" y="182879"/>
            <a:ext cx="1429879" cy="14435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3716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F6019"/>
                </a:solidFill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60934"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</a:rPr>
              <a:t>Built MedOrchestra — all 12 synopsis modules working end-to-end with 11 cooperating AI agents.</a:t>
            </a:r>
          </a:p>
          <a:p>
            <a:pPr algn="l" marL="201168" indent="-160934"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</a:rPr>
              <a:t>Proven algorithms (CP-SAT, NEWS2, queueing, forecasting, ML, discrete-event simulation) make every recommendation measurable and explainable.</a:t>
            </a:r>
          </a:p>
          <a:p>
            <a:pPr algn="l" marL="201168" indent="-160934"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</a:rPr>
              <a:t>Safe by design: risk-tiered human approval, configurable autonomy and a complete audit trail.</a:t>
            </a:r>
          </a:p>
          <a:p>
            <a:pPr algn="l" marL="201168" indent="-160934"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</a:rPr>
              <a:t>Extended it well beyond the synopsis: 108 pre-hospital coordination, billing with PM-JAY and insurer claims, a Monte-Carlo digital twin, an ICU central monitor, a Hinglish copilot, public waiting-room screens and an AI-governance dashboard.</a:t>
            </a:r>
          </a:p>
          <a:p>
            <a:pPr algn="l" marL="201168" indent="-160934"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</a:rPr>
              <a:t>Limitation: synthetic data and simulated integrations — clinical validation is the next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5230368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+mj-lt"/>
              </a:rPr>
              <a:t>Thank you — questions &amp; live demo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C9A8"/>
                </a:solidFill>
              </a:rPr>
              <a:t>Login: admin / admin123 · doctor / doctor123 · nurse / nurse123 · patient / patient123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F6019"/>
                </a:solidFill>
              </a:rP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737360"/>
            <a:ext cx="49834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[1] </a:t>
            </a:r>
            <a:r>
              <a:rPr sz="1100" b="0" i="0">
                <a:solidFill>
                  <a:srgbClr val="1F2937"/>
                </a:solidFill>
              </a:rPr>
              <a:t>M. Wooldridge, An Introduction to MultiAgent Systems, 2nd ed., Wiley, 2009.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[2] </a:t>
            </a:r>
            <a:r>
              <a:rPr sz="1100" b="0" i="0">
                <a:solidFill>
                  <a:srgbClr val="1F2937"/>
                </a:solidFill>
              </a:rPr>
              <a:t>Royal College of Physicians, National Early Warning Score (NEWS) 2, London, 2017.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[3] </a:t>
            </a:r>
            <a:r>
              <a:rPr sz="1100" b="0" i="0">
                <a:solidFill>
                  <a:srgbClr val="1F2937"/>
                </a:solidFill>
              </a:rPr>
              <a:t>B. Cardoen, E. Demeulemeester, J. Beliën, “Operating room planning and scheduling: A literature review,” EJOR, 201(3), 2010.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[4] </a:t>
            </a:r>
            <a:r>
              <a:rPr sz="1100" b="0" i="0">
                <a:solidFill>
                  <a:srgbClr val="1F2937"/>
                </a:solidFill>
              </a:rPr>
              <a:t>World Health Organization, Ethics and Governance of Artificial Intelligence for Health, 2021.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[5] </a:t>
            </a:r>
            <a:r>
              <a:rPr sz="1100" b="0" i="0">
                <a:solidFill>
                  <a:srgbClr val="1F2937"/>
                </a:solidFill>
              </a:rPr>
              <a:t>L. V. Green, “Queueing analysis in healthcare,” in Patient Flow, Springer, 2006.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[6] </a:t>
            </a:r>
            <a:r>
              <a:rPr sz="1100" b="0" i="0">
                <a:solidFill>
                  <a:srgbClr val="1F2937"/>
                </a:solidFill>
              </a:rPr>
              <a:t>P. R. Winters, “Forecasting sales by exponentially weighted moving averages,” Management Science, 6(3), 1960.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[7] </a:t>
            </a:r>
            <a:r>
              <a:rPr sz="1100" b="0" i="0">
                <a:solidFill>
                  <a:srgbClr val="1F2937"/>
                </a:solidFill>
              </a:rPr>
              <a:t>J. H. Friedman, “Greedy function approximation: A gradient boosting machine,” Annals of Statistics, 29(5), 2001.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72A52"/>
                </a:solidFill>
              </a:rPr>
              <a:t>[8] </a:t>
            </a:r>
            <a:r>
              <a:rPr sz="1100" b="0" i="0">
                <a:solidFill>
                  <a:srgbClr val="1F2937"/>
                </a:solidFill>
              </a:rPr>
              <a:t>L. Perron, V. Furnon, OR-Tools, Google — developers.google.com/optimization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" y="66431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</a:rPr>
              <a:t>16 September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64311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</a:rP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solidFill>
            <a:srgbClr val="FFFFFF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190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Sharvari Deshmukh</dc:creator>
  <cp:keywords/>
  <dc:description>generated using python-pptx</dc:description>
  <cp:lastModifiedBy>Sharvari Deshmukh</cp:lastModifiedBy>
  <cp:revision>2</cp:revision>
  <dcterms:created xsi:type="dcterms:W3CDTF">2013-01-27T09:14:16Z</dcterms:created>
  <dcterms:modified xsi:type="dcterms:W3CDTF">2026-09-02T10:44:04Z</dcterms:modified>
  <cp:category/>
</cp:coreProperties>
</file>